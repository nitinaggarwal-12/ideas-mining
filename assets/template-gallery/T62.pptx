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T62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#61: Multi-Agent Supervisor Tree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40326" y="1312164"/>
            <a:ext cx="33092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newsletter infographic Hierarchical Tree Diagram Multi-agent supervisor delegation and worker execution on Google Cloud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440326" y="4490618"/>
            <a:ext cx="3309214" cy="405994"/>
          </a:xfrm>
          <a:prstGeom prst="roundRect">
            <a:avLst>
              <a:gd name="adj" fmla="val 11261"/>
            </a:avLst>
          </a:prstGeom>
          <a:solidFill>
            <a:srgbClr val="162038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0326" y="4490618"/>
            <a:ext cx="330921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RESOURCE &amp; ENVIRONMENT LAYER 03 ISOLATED VPC SECURE Execution boundary for sandboxed workloads, database access, &amp; storage.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440326" y="5263286"/>
            <a:ext cx="3309214" cy="347472"/>
          </a:xfrm>
          <a:prstGeom prst="roundRect">
            <a:avLst>
              <a:gd name="adj" fmla="val 13158"/>
            </a:avLst>
          </a:prstGeom>
          <a:solidFill>
            <a:srgbClr val="FAF8F2"/>
          </a:solidFill>
          <a:ln w="13335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0326" y="5263286"/>
            <a:ext cx="33092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Hierarchical delegation separates high-level task planning from specialized worker execution, maintaining strict secure containment.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440326" y="3316529"/>
            <a:ext cx="1038758" cy="912571"/>
          </a:xfrm>
          <a:prstGeom prst="roundRect">
            <a:avLst>
              <a:gd name="adj" fmla="val 5010"/>
            </a:avLst>
          </a:prstGeom>
          <a:solidFill>
            <a:srgbClr val="C7E6D1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8790" y="3371393"/>
            <a:ext cx="6025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 AGENT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063947" y="3371393"/>
            <a:ext cx="366674" cy="137160"/>
          </a:xfrm>
          <a:prstGeom prst="roundRect">
            <a:avLst>
              <a:gd name="adj" fmla="val 133333"/>
            </a:avLst>
          </a:prstGeom>
          <a:solidFill>
            <a:srgbClr val="BCE0C8"/>
          </a:solidFill>
          <a:ln/>
        </p:spPr>
      </p:sp>
      <p:sp>
        <p:nvSpPr>
          <p:cNvPr id="17" name="Text 15"/>
          <p:cNvSpPr/>
          <p:nvPr/>
        </p:nvSpPr>
        <p:spPr>
          <a:xfrm>
            <a:off x="5063947" y="3371393"/>
            <a:ext cx="3666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02a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831690" y="3526841"/>
            <a:ext cx="255118" cy="255118"/>
          </a:xfrm>
          <a:prstGeom prst="ellipse">
            <a:avLst/>
          </a:prstGeom>
          <a:solidFill>
            <a:srgbClr val="BCE0C8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1690" y="3526841"/>
            <a:ext cx="25511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488790" y="3800246"/>
            <a:ext cx="941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488790" y="4000500"/>
            <a:ext cx="941832" cy="164592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8790" y="4000500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 databases, joins dataset..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575097" y="3316529"/>
            <a:ext cx="1038758" cy="912571"/>
          </a:xfrm>
          <a:prstGeom prst="roundRect">
            <a:avLst>
              <a:gd name="adj" fmla="val 5010"/>
            </a:avLst>
          </a:prstGeom>
          <a:solidFill>
            <a:srgbClr val="F6D68B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371393"/>
            <a:ext cx="6025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RESEARCHER AGENT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198718" y="3371393"/>
            <a:ext cx="366674" cy="137160"/>
          </a:xfrm>
          <a:prstGeom prst="roundRect">
            <a:avLst>
              <a:gd name="adj" fmla="val 133333"/>
            </a:avLst>
          </a:prstGeom>
          <a:solidFill>
            <a:srgbClr val="F2CC7B"/>
          </a:solidFill>
          <a:ln/>
        </p:spPr>
      </p:sp>
      <p:sp>
        <p:nvSpPr>
          <p:cNvPr id="26" name="Text 24"/>
          <p:cNvSpPr/>
          <p:nvPr/>
        </p:nvSpPr>
        <p:spPr>
          <a:xfrm>
            <a:off x="6198718" y="3371393"/>
            <a:ext cx="3666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02b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967374" y="3526841"/>
            <a:ext cx="255118" cy="255118"/>
          </a:xfrm>
          <a:prstGeom prst="ellipse">
            <a:avLst/>
          </a:prstGeom>
          <a:solidFill>
            <a:srgbClr val="F2CC7B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7374" y="3526841"/>
            <a:ext cx="25511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23560" y="3800246"/>
            <a:ext cx="941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SEARCH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23560" y="4000500"/>
            <a:ext cx="941832" cy="164592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4000500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Scrapes web pages, accesses APIs..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710782" y="3316529"/>
            <a:ext cx="1038758" cy="912571"/>
          </a:xfrm>
          <a:prstGeom prst="roundRect">
            <a:avLst>
              <a:gd name="adj" fmla="val 5010"/>
            </a:avLst>
          </a:prstGeom>
          <a:solidFill>
            <a:srgbClr val="F6C5BE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9245" y="3371393"/>
            <a:ext cx="6025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SYNTHESIS AGENT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334402" y="3371393"/>
            <a:ext cx="366674" cy="137160"/>
          </a:xfrm>
          <a:prstGeom prst="roundRect">
            <a:avLst>
              <a:gd name="adj" fmla="val 133333"/>
            </a:avLst>
          </a:prstGeom>
          <a:solidFill>
            <a:srgbClr val="F2B8B0"/>
          </a:solidFill>
          <a:ln/>
        </p:spPr>
      </p:sp>
      <p:sp>
        <p:nvSpPr>
          <p:cNvPr id="35" name="Text 33"/>
          <p:cNvSpPr/>
          <p:nvPr/>
        </p:nvSpPr>
        <p:spPr>
          <a:xfrm>
            <a:off x="7334402" y="3371393"/>
            <a:ext cx="3666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02c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7103059" y="3526841"/>
            <a:ext cx="255118" cy="255118"/>
          </a:xfrm>
          <a:prstGeom prst="ellipse">
            <a:avLst/>
          </a:prstGeom>
          <a:solidFill>
            <a:srgbClr val="F2B8B0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03059" y="3526841"/>
            <a:ext cx="255118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759245" y="3800246"/>
            <a:ext cx="941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/ WRITE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759245" y="4000500"/>
            <a:ext cx="941832" cy="164592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59245" y="4000500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Writes, tests, and refactors cod..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575097" y="2114093"/>
            <a:ext cx="1038758" cy="821131"/>
          </a:xfrm>
          <a:prstGeom prst="roundRect">
            <a:avLst>
              <a:gd name="adj" fmla="val 5568"/>
            </a:avLst>
          </a:prstGeom>
          <a:solidFill>
            <a:srgbClr val="427CE6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5097" y="2114093"/>
            <a:ext cx="1038758" cy="821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 01 Analyzes high-level goals, decomposes tasks, coordinates specialized agents, and validates the final response. ORCHESTRATOR GOAL-DRIVEN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246474" y="5891479"/>
            <a:ext cx="3695090" cy="222199"/>
          </a:xfrm>
          <a:prstGeom prst="rect">
            <a:avLst/>
          </a:prstGeom>
          <a:solidFill>
            <a:srgbClr val="162038"/>
          </a:solidFill>
          <a:ln w="9525">
            <a:solidFill>
              <a:srgbClr val="1620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46474" y="5891479"/>
            <a:ext cx="369509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• GEMINI • ENTERPRISE AGENT REFERENCE ARCHITECTURE • REVISION 2.4 • SEPTEMBER 2026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749394" y="4944161"/>
            <a:ext cx="79735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 (SQL, database connectors)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782666" y="4944161"/>
            <a:ext cx="79735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/ Execution (gVisor &amp; isolated runtime)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912864" y="4944161"/>
            <a:ext cx="79735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(File storage, RAG vector)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440326" y="2973629"/>
            <a:ext cx="1159459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SPECIALIZED WORKER ZONE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440326" y="4369918"/>
            <a:ext cx="1159459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ENVIRONMENT &amp; LAYER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5575097" y="1997964"/>
            <a:ext cx="1038758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SUPERVISION ZONE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131052" y="2973629"/>
            <a:ext cx="555955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&amp; Route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T62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#61: Multi-Agent Supervisor Tree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966667" y="565099"/>
            <a:ext cx="420715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newsletter infographic Hierarchical Tree Diagram Multi-agent supervisor delegation and worker execution on Google Cloud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966667" y="4605833"/>
            <a:ext cx="4207154" cy="515722"/>
          </a:xfrm>
          <a:prstGeom prst="roundRect">
            <a:avLst>
              <a:gd name="adj" fmla="val 8865"/>
            </a:avLst>
          </a:prstGeom>
          <a:solidFill>
            <a:srgbClr val="162038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6667" y="4605833"/>
            <a:ext cx="4207154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RESOURCE &amp; ENVIRONMENT LAYER 03 ISOLATED VPC SECURE Execution boundary for sandboxed workloads, database access, &amp; storage.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966667" y="5588813"/>
            <a:ext cx="4207154" cy="442570"/>
          </a:xfrm>
          <a:prstGeom prst="roundRect">
            <a:avLst>
              <a:gd name="adj" fmla="val 10331"/>
            </a:avLst>
          </a:prstGeom>
          <a:solidFill>
            <a:srgbClr val="FAF8F2"/>
          </a:solidFill>
          <a:ln w="13335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6667" y="5588813"/>
            <a:ext cx="4207154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Hierarchical delegation separates high-level task planning from specialized worker execution, maintaining strict secure containment.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966667" y="3113532"/>
            <a:ext cx="1320394" cy="1160374"/>
          </a:xfrm>
          <a:prstGeom prst="roundRect">
            <a:avLst>
              <a:gd name="adj" fmla="val 3940"/>
            </a:avLst>
          </a:prstGeom>
          <a:solidFill>
            <a:srgbClr val="C7E6D1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7932" y="3183026"/>
            <a:ext cx="76626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 AGENT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759452" y="3183026"/>
            <a:ext cx="466344" cy="173736"/>
          </a:xfrm>
          <a:prstGeom prst="roundRect">
            <a:avLst>
              <a:gd name="adj" fmla="val 105263"/>
            </a:avLst>
          </a:prstGeom>
          <a:solidFill>
            <a:srgbClr val="BCE0C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9452" y="3183026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02a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465015" y="3380537"/>
            <a:ext cx="324612" cy="324612"/>
          </a:xfrm>
          <a:prstGeom prst="ellipse">
            <a:avLst/>
          </a:prstGeom>
          <a:solidFill>
            <a:srgbClr val="BCE0C8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5015" y="3380537"/>
            <a:ext cx="3246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027932" y="3728923"/>
            <a:ext cx="1197864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027932" y="3984041"/>
            <a:ext cx="1197864" cy="208483"/>
          </a:xfrm>
          <a:prstGeom prst="roundRect">
            <a:avLst>
              <a:gd name="adj" fmla="val 2631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7932" y="3984041"/>
            <a:ext cx="1197864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 databases, joins dataset..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409590" y="3113532"/>
            <a:ext cx="1320394" cy="1160374"/>
          </a:xfrm>
          <a:prstGeom prst="roundRect">
            <a:avLst>
              <a:gd name="adj" fmla="val 3940"/>
            </a:avLst>
          </a:prstGeom>
          <a:solidFill>
            <a:srgbClr val="F6D68B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0855" y="3183026"/>
            <a:ext cx="76626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RESEARCHER AGENT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202375" y="3183026"/>
            <a:ext cx="466344" cy="173736"/>
          </a:xfrm>
          <a:prstGeom prst="roundRect">
            <a:avLst>
              <a:gd name="adj" fmla="val 105263"/>
            </a:avLst>
          </a:prstGeom>
          <a:solidFill>
            <a:srgbClr val="F2CC7B"/>
          </a:solidFill>
          <a:ln/>
        </p:spPr>
      </p:sp>
      <p:sp>
        <p:nvSpPr>
          <p:cNvPr id="25" name="Text 23"/>
          <p:cNvSpPr/>
          <p:nvPr/>
        </p:nvSpPr>
        <p:spPr>
          <a:xfrm>
            <a:off x="6202375" y="3183026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02b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907938" y="3380537"/>
            <a:ext cx="324612" cy="324612"/>
          </a:xfrm>
          <a:prstGeom prst="ellipse">
            <a:avLst/>
          </a:prstGeom>
          <a:solidFill>
            <a:srgbClr val="F2CC7B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07938" y="3380537"/>
            <a:ext cx="3246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470855" y="3728923"/>
            <a:ext cx="1197864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SEARCH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470855" y="3984041"/>
            <a:ext cx="1197864" cy="208483"/>
          </a:xfrm>
          <a:prstGeom prst="roundRect">
            <a:avLst>
              <a:gd name="adj" fmla="val 2631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0855" y="3984041"/>
            <a:ext cx="1197864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Scrapes web pages, accesses APIs..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853428" y="3113532"/>
            <a:ext cx="1320394" cy="1160374"/>
          </a:xfrm>
          <a:prstGeom prst="roundRect">
            <a:avLst>
              <a:gd name="adj" fmla="val 3940"/>
            </a:avLst>
          </a:prstGeom>
          <a:solidFill>
            <a:srgbClr val="F6C5BE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4693" y="3183026"/>
            <a:ext cx="76626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SYNTHESIS AGENT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646213" y="3183026"/>
            <a:ext cx="466344" cy="173736"/>
          </a:xfrm>
          <a:prstGeom prst="roundRect">
            <a:avLst>
              <a:gd name="adj" fmla="val 105263"/>
            </a:avLst>
          </a:prstGeom>
          <a:solidFill>
            <a:srgbClr val="F2B8B0"/>
          </a:solidFill>
          <a:ln/>
        </p:spPr>
      </p:sp>
      <p:sp>
        <p:nvSpPr>
          <p:cNvPr id="34" name="Text 32"/>
          <p:cNvSpPr/>
          <p:nvPr/>
        </p:nvSpPr>
        <p:spPr>
          <a:xfrm>
            <a:off x="7646213" y="3183026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02c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351776" y="3380537"/>
            <a:ext cx="324612" cy="324612"/>
          </a:xfrm>
          <a:prstGeom prst="ellipse">
            <a:avLst/>
          </a:prstGeom>
          <a:solidFill>
            <a:srgbClr val="F2B8B0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3380537"/>
            <a:ext cx="3246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914693" y="3728923"/>
            <a:ext cx="1197864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/ WRITE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914693" y="3984041"/>
            <a:ext cx="1197864" cy="208483"/>
          </a:xfrm>
          <a:prstGeom prst="roundRect">
            <a:avLst>
              <a:gd name="adj" fmla="val 2631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14693" y="3984041"/>
            <a:ext cx="1197864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Writes, tests, and refactors cod..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409590" y="1584655"/>
            <a:ext cx="1320394" cy="1044245"/>
          </a:xfrm>
          <a:prstGeom prst="roundRect">
            <a:avLst>
              <a:gd name="adj" fmla="val 4378"/>
            </a:avLst>
          </a:prstGeom>
          <a:solidFill>
            <a:srgbClr val="427CE6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09590" y="1584655"/>
            <a:ext cx="1320394" cy="1044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 01 Analyzes high-level goals, decomposes tasks, coordinates specialized agents, and validates the final response. ORCHESTRATOR GOAL-DRIVEN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720694" y="6387084"/>
            <a:ext cx="4698187" cy="282550"/>
          </a:xfrm>
          <a:prstGeom prst="rect">
            <a:avLst/>
          </a:prstGeom>
          <a:solidFill>
            <a:srgbClr val="162038"/>
          </a:solidFill>
          <a:ln w="9525">
            <a:solidFill>
              <a:srgbClr val="1620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20694" y="6387084"/>
            <a:ext cx="4698187" cy="28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• GEMINI • ENTERPRISE AGENT REFERENCE ARCHITECTURE • REVISION 2.4 • SEPTEMBER 2026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359859" y="5183734"/>
            <a:ext cx="1013155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 (SQL, database connectors)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673852" y="5183734"/>
            <a:ext cx="1013155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/ Execution (gVisor &amp; isolated runtime)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111289" y="5183734"/>
            <a:ext cx="1013155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(File storage, RAG vector)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966667" y="2677363"/>
            <a:ext cx="1474013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SPECIALIZED WORKER ZONE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966667" y="4452214"/>
            <a:ext cx="1474013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ENVIRONMENT &amp; LAYER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409590" y="1436522"/>
            <a:ext cx="1320394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SUPERVISION ZONE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116422" y="2677363"/>
            <a:ext cx="705917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&amp; Route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T62 — PromptCanvas #61: Multi-Agent Supervisor Tree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2026-10-22T04:34:25Z</dcterms:created>
  <dcterms:modified xsi:type="dcterms:W3CDTF">2026-10-22T04:34:25Z</dcterms:modified>
</cp:coreProperties>
</file>