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Copilots + Wet-Lab Loops + Virtual Cells + R&amp;D Gates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Signals from AI in Pharma R&amp;D &amp; Life Sciences. How closed-loop bio-AI systems validate targets in the lab, with prompts to 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&amp; Lab Loops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KIRA6 10nM IC50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Co-Scientist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nM IC50 confirmed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Drug Repurposing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Robin Lab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Rank target hypotheses using multi-agent literature + omics synthesis and close the l...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&amp; Virtual Cells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 samples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MAMMAL Model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PRAXIS VIRTUALCELL In-Silico Pertur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GATES MolGenBench · ADMET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Combine multimodal models (MAMMAL) with VirtualCell perturbation twins to filter out...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R&amp;D Governance Gates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R&amp;D RELEASE CHECKS ☐ Wet-lab as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Passes ADMET &amp; assay?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Preclinical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04 → Full 16:9 Diagram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Pharma Scorecard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Wet Lab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Hit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assay_raw.csv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Integrate AI hypothesis copilots, VirtualCell simulators, and wet-lab LIMS feedback i...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T77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Copilots + Wet-Lab Loops + Virtual Cells + R&amp;D Gates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target hypotheses using multi-agent literature + omics synthesis and close the loop with robotic wet-lab assay readouts.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&amp; Lab Loops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1–2: Gemini Co-Scientist &amp; Robin link literature synthesis to wet-lab assays.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Drug Repurposing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nM IC50 confirmed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AMD Phagocytosis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2.27x boost validated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Co-Scientist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KIRA6 10nM IC50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 feed back into next AI ranker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1449324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1–2: COPILOTS + AUTONOMOUS LABS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24928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ASSAY READOUTS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 tested directly in vitro &amp; in vivo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Robin Lab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RBM24 Hit (AMD)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lab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142586" y="3386023"/>
            <a:ext cx="85405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142586" y="3386023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T77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Copilots + Wet-Lab Loops + Virtual Cells + R&amp;D Gates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multimodal models (MAMMAL) with VirtualCell perturbation twins to filter out low-potency scaffolds before synthesis.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&amp; Virtual Cells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3–6: MAMMAL (2B samples), MolGenBench, Virtual Screening &amp; VirtualCell.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PRAXIS VIRTUALCELL In-Silico Perturbation Twins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GATES MolGenBench · ADMET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MAMMAL Model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 samples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4–5. MolGen + Screen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novo hits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85932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3–6: MULTIMODAL + VIRTUAL CELLS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cell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282489" y="3386023"/>
            <a:ext cx="854050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282489" y="3386023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512003" y="4088282"/>
            <a:ext cx="1410005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512003" y="4088282"/>
            <a:ext cx="1410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prunes weak hits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T77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Copilots + Wet-Lab Loops + Virtual Cells + R&amp;D Gates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5660136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90" dirty="0"/>
          </a:p>
        </p:txBody>
      </p:sp>
      <p:sp>
        <p:nvSpPr>
          <p:cNvPr id="11" name="Text 9"/>
          <p:cNvSpPr/>
          <p:nvPr/>
        </p:nvSpPr>
        <p:spPr>
          <a:xfrm>
            <a:off x="5896051" y="5101438"/>
            <a:ext cx="538033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full LIMS/ELN data lineage, 21 CFR Part 11 signatures, and wet-lab validation before advancing any AI-generated lead.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R&amp;D Governance Gates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Evidence, Integration, Trust &amp; Scale gaps with GxP auditability.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663647" y="1990649"/>
            <a:ext cx="2521001" cy="1304849"/>
          </a:xfrm>
          <a:prstGeom prst="roundRect">
            <a:avLst>
              <a:gd name="adj" fmla="val 3504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3647" y="1990649"/>
            <a:ext cx="2521001" cy="130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R&amp;D RELEASE CHECKS ☐ Wet-lab assay + provenance ☐ LIMS/ELN + 21 CFR 11 log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2663647" y="4147718"/>
            <a:ext cx="2521001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3647" y="4147718"/>
            <a:ext cx="252100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Re-optimize scaffold in loop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6070702" y="2241194"/>
            <a:ext cx="2241194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0702" y="2241194"/>
            <a:ext cx="224119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Passes ADMET &amp; assay?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Preclinical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6070702" y="4147718"/>
            <a:ext cx="2241194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0702" y="4147718"/>
            <a:ext cx="224119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Off-target tox flag?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 Lead + Archive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hit</a:t>
            </a:r>
            <a:endParaRPr lang="en-US" sz="1370" dirty="0"/>
          </a:p>
        </p:txBody>
      </p:sp>
      <p:sp>
        <p:nvSpPr>
          <p:cNvPr id="31" name="Shape 29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3" name="Shape 31"/>
          <p:cNvSpPr/>
          <p:nvPr/>
        </p:nvSpPr>
        <p:spPr>
          <a:xfrm>
            <a:off x="2220163" y="2642616"/>
            <a:ext cx="443484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5183734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5" name="Shape 33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719175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9" name="Shape 37"/>
          <p:cNvSpPr/>
          <p:nvPr/>
        </p:nvSpPr>
        <p:spPr>
          <a:xfrm>
            <a:off x="6911950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911950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1" name="Shape 39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2" name="Shape 40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4" name="Shape 42"/>
          <p:cNvSpPr/>
          <p:nvPr/>
        </p:nvSpPr>
        <p:spPr>
          <a:xfrm flipH="1">
            <a:off x="5183734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5" name="Shape 43"/>
          <p:cNvSpPr/>
          <p:nvPr/>
        </p:nvSpPr>
        <p:spPr>
          <a:xfrm>
            <a:off x="5405933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05933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7" name="Shape 45"/>
          <p:cNvSpPr/>
          <p:nvPr/>
        </p:nvSpPr>
        <p:spPr>
          <a:xfrm flipH="1" flipV="1">
            <a:off x="1613002" y="2642616"/>
            <a:ext cx="1050646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T77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Copilots + Wet-Lab Loops + Virtual Cells + R&amp;D Gates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AI hypothesis copilots, VirtualCell simulators, and wet-lab LIMS feedback into one continuous learning loop.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KIRA6 Hit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nM IC50 in vitro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MAMMAL Scale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 multimodal samples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Speed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333195" cy="128016"/>
          </a:xfrm>
          <a:prstGeom prst="roundRect">
            <a:avLst>
              <a:gd name="adj" fmla="val 14285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AI ↔ Lab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+ AlphaFold • BioNeMo / LIMS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Pharma Scorecard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in-silico point models vs. closed-loop 2026 Pharma R&amp;D systems.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PHARMA R&amp;D SIGNALS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567635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POINT-MODEL GAPS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In-silico only = high lab attrition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assay_raw.csv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Wet Lab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LIMS Silos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Hit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Failure</a:t>
            </a:r>
            <a:endParaRPr lang="en-US" sz="131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unlinked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351422" y="3335731"/>
            <a:ext cx="93360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351422" y="3335731"/>
            <a:ext cx="933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T77 — 2026 Pharma R&amp;D &amp; Life Sciences Bio-AI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2026-10-22T05:20:25Z</dcterms:created>
  <dcterms:modified xsi:type="dcterms:W3CDTF">2026-10-22T05:20:25Z</dcterms:modified>
</cp:coreProperties>
</file>