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1225296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" y="329184"/>
            <a:ext cx="2331720" cy="237744"/>
          </a:xfrm>
          <a:prstGeom prst="roundRect">
            <a:avLst>
              <a:gd name="adj" fmla="val 76923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32918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T60 • VISUAL FLOW EXPLAINER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635240" y="329184"/>
            <a:ext cx="4041648" cy="237744"/>
          </a:xfrm>
          <a:prstGeom prst="roundRect">
            <a:avLst>
              <a:gd name="adj" fmla="val 76923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32918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ADK + VERTEX AI • OPENHANDS + LANGGRAPH</a:t>
            </a:r>
            <a:endParaRPr lang="en-US" sz="820" dirty="0"/>
          </a:p>
        </p:txBody>
      </p:sp>
      <p:sp>
        <p:nvSpPr>
          <p:cNvPr id="7" name="Text 5"/>
          <p:cNvSpPr/>
          <p:nvPr/>
        </p:nvSpPr>
        <p:spPr>
          <a:xfrm>
            <a:off x="512064" y="621792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#59: Q1-Q4 Quarterly Roadmap Tracks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12064" y="1042416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Google Slides &amp; Draw.io Vector Architecture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EF2F2"/>
          </a:solidFill>
          <a:ln w="10160">
            <a:solidFill>
              <a:srgbClr val="FCA5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  •  SLIDE 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58061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1858061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475488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2461565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2880360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060704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Discover &amp; Map ✓ Audit and map ex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687982" y="3785616"/>
            <a:ext cx="914" cy="164592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 w="sm" len="sm"/>
          </a:ln>
        </p:spPr>
      </p:sp>
      <p:sp>
        <p:nvSpPr>
          <p:cNvPr id="20" name="Shape 18"/>
          <p:cNvSpPr/>
          <p:nvPr/>
        </p:nvSpPr>
        <p:spPr>
          <a:xfrm>
            <a:off x="457200" y="3968496"/>
            <a:ext cx="2461565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4453128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453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1060704" y="4059936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Baseline &amp; Evaluate ✓ Establish 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02 → Full 16:9 Diagram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3074213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27" name="Shape 25"/>
          <p:cNvSpPr/>
          <p:nvPr/>
        </p:nvSpPr>
        <p:spPr>
          <a:xfrm>
            <a:off x="3266237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66237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0160">
            <a:solidFill>
              <a:srgbClr val="93C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94253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  •  SLIDE 03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95114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4795114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3412541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394253" y="2395728"/>
            <a:ext cx="2461565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03981" y="2880360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03981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3997757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Build Agent Core ✓ Build core rea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25035" y="3785616"/>
            <a:ext cx="914" cy="164592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3394253" y="3968496"/>
            <a:ext cx="2461565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03981" y="4453128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03981" y="4453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3997757" y="4059936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Sandbox Environment ✓ Deploy task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394253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67405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03 → Full 16:9 Diagram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6011266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45" name="Shape 43"/>
          <p:cNvSpPr/>
          <p:nvPr/>
        </p:nvSpPr>
        <p:spPr>
          <a:xfrm>
            <a:off x="6203290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03290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0160">
            <a:solidFill>
              <a:srgbClr val="6EE7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1306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  •  SLIDE 04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732166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059669"/>
          </a:solidFill>
          <a:ln/>
        </p:spPr>
      </p:sp>
      <p:sp>
        <p:nvSpPr>
          <p:cNvPr id="49" name="Text 47"/>
          <p:cNvSpPr/>
          <p:nvPr/>
        </p:nvSpPr>
        <p:spPr>
          <a:xfrm>
            <a:off x="7732166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GAUGE PROOF</a:t>
            </a:r>
            <a:endParaRPr lang="en-US" sz="780" dirty="0"/>
          </a:p>
        </p:txBody>
      </p:sp>
      <p:sp>
        <p:nvSpPr>
          <p:cNvPr id="50" name="Text 48"/>
          <p:cNvSpPr/>
          <p:nvPr/>
        </p:nvSpPr>
        <p:spPr>
          <a:xfrm>
            <a:off x="6349594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331306" y="2395728"/>
            <a:ext cx="2461565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441034" y="2880360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41034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54" name="Text 52"/>
          <p:cNvSpPr/>
          <p:nvPr/>
        </p:nvSpPr>
        <p:spPr>
          <a:xfrm>
            <a:off x="6934810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| Persistent Memory ✓ Wire up Alloy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562088" y="3785616"/>
            <a:ext cx="914" cy="164592"/>
          </a:xfrm>
          <a:prstGeom prst="line">
            <a:avLst/>
          </a:prstGeom>
          <a:noFill/>
          <a:ln w="19050">
            <a:solidFill>
              <a:srgbClr val="059669"/>
            </a:solidFill>
            <a:prstDash val="solid"/>
            <a:tailEnd type="triangle" w="sm" len="sm"/>
          </a:ln>
        </p:spPr>
      </p:sp>
      <p:sp>
        <p:nvSpPr>
          <p:cNvPr id="56" name="Shape 54"/>
          <p:cNvSpPr/>
          <p:nvPr/>
        </p:nvSpPr>
        <p:spPr>
          <a:xfrm>
            <a:off x="6331306" y="3968496"/>
            <a:ext cx="2461565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41034" y="4453128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41034" y="4453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6934810" y="4059936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| Enterprise Grounding ✓ Integrate 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31306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4458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04 → Full 16:9 Diagram</a:t>
            </a:r>
            <a:endParaRPr lang="en-US" sz="740" dirty="0"/>
          </a:p>
        </p:txBody>
      </p:sp>
      <p:sp>
        <p:nvSpPr>
          <p:cNvPr id="62" name="Shape 60"/>
          <p:cNvSpPr/>
          <p:nvPr/>
        </p:nvSpPr>
        <p:spPr>
          <a:xfrm>
            <a:off x="8948318" y="3803904"/>
            <a:ext cx="164592" cy="91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 w="sm" len="sm"/>
          </a:ln>
        </p:spPr>
      </p:sp>
      <p:sp>
        <p:nvSpPr>
          <p:cNvPr id="63" name="Shape 61"/>
          <p:cNvSpPr/>
          <p:nvPr/>
        </p:nvSpPr>
        <p:spPr>
          <a:xfrm>
            <a:off x="9140342" y="1591056"/>
            <a:ext cx="2717597" cy="4425696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140342" y="1591056"/>
            <a:ext cx="2717597" cy="384048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0160">
            <a:solidFill>
              <a:srgbClr val="D8B4F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68358" y="1591056"/>
            <a:ext cx="1576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  •  SLIDE 05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0669219" y="1673352"/>
            <a:ext cx="1078992" cy="219456"/>
          </a:xfrm>
          <a:prstGeom prst="roundRect">
            <a:avLst>
              <a:gd name="adj" fmla="val 83333"/>
            </a:avLst>
          </a:prstGeom>
          <a:solidFill>
            <a:srgbClr val="7C3AED"/>
          </a:solidFill>
          <a:ln/>
        </p:spPr>
      </p:sp>
      <p:sp>
        <p:nvSpPr>
          <p:cNvPr id="67" name="Text 65"/>
          <p:cNvSpPr/>
          <p:nvPr/>
        </p:nvSpPr>
        <p:spPr>
          <a:xfrm>
            <a:off x="10669219" y="167335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04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9286646" y="2029968"/>
            <a:ext cx="242498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9268358" y="2395728"/>
            <a:ext cx="2461565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378086" y="2880360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378086" y="2880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20" dirty="0"/>
          </a:p>
        </p:txBody>
      </p:sp>
      <p:sp>
        <p:nvSpPr>
          <p:cNvPr id="72" name="Text 70"/>
          <p:cNvSpPr/>
          <p:nvPr/>
        </p:nvSpPr>
        <p:spPr>
          <a:xfrm>
            <a:off x="9871862" y="2487168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| Human-in-the-Loop ✓ Incorporate 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10499141" y="3785616"/>
            <a:ext cx="914" cy="164592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 w="sm" len="sm"/>
          </a:ln>
        </p:spPr>
      </p:sp>
      <p:sp>
        <p:nvSpPr>
          <p:cNvPr id="74" name="Shape 72"/>
          <p:cNvSpPr/>
          <p:nvPr/>
        </p:nvSpPr>
        <p:spPr>
          <a:xfrm>
            <a:off x="9268358" y="3968496"/>
            <a:ext cx="2461565" cy="137160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378086" y="4453128"/>
            <a:ext cx="402336" cy="402336"/>
          </a:xfrm>
          <a:prstGeom prst="ellipse">
            <a:avLst/>
          </a:prstGeom>
          <a:solidFill>
            <a:srgbClr val="EFF6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378086" y="4453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20" dirty="0"/>
          </a:p>
        </p:txBody>
      </p:sp>
      <p:sp>
        <p:nvSpPr>
          <p:cNvPr id="77" name="Text 75"/>
          <p:cNvSpPr/>
          <p:nvPr/>
        </p:nvSpPr>
        <p:spPr>
          <a:xfrm>
            <a:off x="9871862" y="4059936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| Production Release ✓ Continuous m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9268358" y="5504688"/>
            <a:ext cx="2461565" cy="402336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341510" y="5504688"/>
            <a:ext cx="23152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05 → Full 16:9 Diagram</a:t>
            </a:r>
            <a:endParaRPr lang="en-US" sz="740" dirty="0"/>
          </a:p>
        </p:txBody>
      </p:sp>
      <p:sp>
        <p:nvSpPr>
          <p:cNvPr id="80" name="Shape 78"/>
          <p:cNvSpPr/>
          <p:nvPr/>
        </p:nvSpPr>
        <p:spPr>
          <a:xfrm>
            <a:off x="329184" y="6126480"/>
            <a:ext cx="11530584" cy="475488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/>
        </p:spPr>
      </p:sp>
      <p:sp>
        <p:nvSpPr>
          <p:cNvPr id="81" name="Text 79"/>
          <p:cNvSpPr/>
          <p:nvPr/>
        </p:nvSpPr>
        <p:spPr>
          <a:xfrm>
            <a:off x="512064" y="6126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01 OF 05  •  EXECUTIVE ARCHITECTURE OVERVIEW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754880" y="6126480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 02–05 render each architecture section as a full-bleed 16:9 widescreen editable diagram.</a:t>
            </a:r>
            <a:endParaRPr lang="en-US" sz="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T60 • SECTION 01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#59: Q1-Q4 Quarterly Roadmap Tracks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12648" y="1058875"/>
            <a:ext cx="10838383" cy="5324551"/>
          </a:xfrm>
          <a:prstGeom prst="roundRect">
            <a:avLst>
              <a:gd name="adj" fmla="val 859"/>
            </a:avLst>
          </a:prstGeom>
          <a:solidFill>
            <a:srgbClr val="E5EFFC"/>
          </a:solidFill>
          <a:ln w="13335">
            <a:solidFill>
              <a:srgbClr val="6B9C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26157" y="2323490"/>
            <a:ext cx="3995928" cy="3727094"/>
          </a:xfrm>
          <a:prstGeom prst="roundRect">
            <a:avLst>
              <a:gd name="adj" fmla="val 1227"/>
            </a:avLst>
          </a:prstGeom>
          <a:solidFill>
            <a:srgbClr val="FAF9F5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6157" y="2323490"/>
            <a:ext cx="3995928" cy="3727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Discover &amp; Map ✓ Audit and map existing manual workflows, database schemas, and identify candidate agent targets. ✓ Use-Case Mapping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502652" y="2323490"/>
            <a:ext cx="3948379" cy="3727094"/>
          </a:xfrm>
          <a:prstGeom prst="roundRect">
            <a:avLst>
              <a:gd name="adj" fmla="val 1227"/>
            </a:avLst>
          </a:prstGeom>
          <a:solidFill>
            <a:srgbClr val="FAF9F5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02652" y="2323490"/>
            <a:ext cx="3948379" cy="3727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Baseline &amp; Evaluate ✓ Establish baseline performance metrics, success criteria, security compliance, and initial ROI goals. ✓ Success Metrics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06831" y="1259129"/>
            <a:ext cx="6606540" cy="732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PHASE 1: DISCOVERY &amp; EVALUATION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8352130" y="1259129"/>
            <a:ext cx="2989174" cy="732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9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| Google Blue</a:t>
            </a:r>
            <a:endParaRPr lang="en-US" sz="1990" dirty="0"/>
          </a:p>
        </p:txBody>
      </p:sp>
      <p:sp>
        <p:nvSpPr>
          <p:cNvPr id="15" name="Shape 13"/>
          <p:cNvSpPr/>
          <p:nvPr/>
        </p:nvSpPr>
        <p:spPr>
          <a:xfrm>
            <a:off x="8210398" y="1990649"/>
            <a:ext cx="1321308" cy="665683"/>
          </a:xfrm>
          <a:prstGeom prst="roundRect">
            <a:avLst>
              <a:gd name="adj" fmla="val 34341"/>
            </a:avLst>
          </a:prstGeom>
          <a:solidFill>
            <a:srgbClr val="E5EFFC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0398" y="1990649"/>
            <a:ext cx="1321308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SET</a:t>
            </a:r>
            <a:endParaRPr lang="en-US" sz="1590" dirty="0"/>
          </a:p>
        </p:txBody>
      </p:sp>
      <p:sp>
        <p:nvSpPr>
          <p:cNvPr id="17" name="Shape 15"/>
          <p:cNvSpPr/>
          <p:nvPr/>
        </p:nvSpPr>
        <p:spPr>
          <a:xfrm>
            <a:off x="3380537" y="1990649"/>
            <a:ext cx="1069848" cy="665683"/>
          </a:xfrm>
          <a:prstGeom prst="roundRect">
            <a:avLst>
              <a:gd name="adj" fmla="val 34341"/>
            </a:avLst>
          </a:prstGeom>
          <a:solidFill>
            <a:srgbClr val="E5EFFC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0537" y="1990649"/>
            <a:ext cx="1069848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ON</a:t>
            </a:r>
            <a:endParaRPr lang="en-US" sz="1590" dirty="0"/>
          </a:p>
        </p:txBody>
      </p:sp>
      <p:sp>
        <p:nvSpPr>
          <p:cNvPr id="19" name="Shape 17"/>
          <p:cNvSpPr/>
          <p:nvPr/>
        </p:nvSpPr>
        <p:spPr>
          <a:xfrm>
            <a:off x="7581290" y="1758391"/>
            <a:ext cx="471830" cy="471830"/>
          </a:xfrm>
          <a:prstGeom prst="ellipse">
            <a:avLst/>
          </a:prstGeom>
          <a:solidFill>
            <a:srgbClr val="3B78E7"/>
          </a:solidFill>
          <a:ln w="1143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1290" y="1758391"/>
            <a:ext cx="471830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T60 • SECTION 02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#59: Q1-Q4 Quarterly Roadmap Tracks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12648" y="1058875"/>
            <a:ext cx="10838383" cy="5324551"/>
          </a:xfrm>
          <a:prstGeom prst="roundRect">
            <a:avLst>
              <a:gd name="adj" fmla="val 859"/>
            </a:avLst>
          </a:prstGeom>
          <a:solidFill>
            <a:srgbClr val="FCE8E5"/>
          </a:solidFill>
          <a:ln w="13335">
            <a:solidFill>
              <a:srgbClr val="E585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26157" y="2323490"/>
            <a:ext cx="3995928" cy="3727094"/>
          </a:xfrm>
          <a:prstGeom prst="roundRect">
            <a:avLst>
              <a:gd name="adj" fmla="val 1227"/>
            </a:avLst>
          </a:prstGeom>
          <a:solidFill>
            <a:srgbClr val="FAF9F5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6157" y="2323490"/>
            <a:ext cx="3995928" cy="3727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Build Agent Core ✓ Build core reasoning loops, define system prompts, and configure model temperature on Gemini 3.1 Pro. ✓ Gemini Pro &amp; Flash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502652" y="2323490"/>
            <a:ext cx="3948379" cy="3727094"/>
          </a:xfrm>
          <a:prstGeom prst="roundRect">
            <a:avLst>
              <a:gd name="adj" fmla="val 1227"/>
            </a:avLst>
          </a:prstGeom>
          <a:solidFill>
            <a:srgbClr val="FAF9F5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02652" y="2323490"/>
            <a:ext cx="3948379" cy="3727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Sandbox Environment ✓ Deploy task execution in isolated VPC microVMs or GKE private sandbox clusters using gVisor. ✓ Secure Runtime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06831" y="1259129"/>
            <a:ext cx="6606540" cy="732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PHASE 2: SECURE PROTOTYPING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8352130" y="1259129"/>
            <a:ext cx="2989174" cy="732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9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| Google Red</a:t>
            </a:r>
            <a:endParaRPr lang="en-US" sz="1990" dirty="0"/>
          </a:p>
        </p:txBody>
      </p:sp>
      <p:sp>
        <p:nvSpPr>
          <p:cNvPr id="15" name="Shape 13"/>
          <p:cNvSpPr/>
          <p:nvPr/>
        </p:nvSpPr>
        <p:spPr>
          <a:xfrm>
            <a:off x="8210398" y="1990649"/>
            <a:ext cx="1321308" cy="665683"/>
          </a:xfrm>
          <a:prstGeom prst="roundRect">
            <a:avLst>
              <a:gd name="adj" fmla="val 34341"/>
            </a:avLst>
          </a:prstGeom>
          <a:solidFill>
            <a:srgbClr val="FCE8E5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0398" y="1990649"/>
            <a:ext cx="1321308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</a:t>
            </a:r>
            <a:endParaRPr lang="en-US" sz="1590" dirty="0"/>
          </a:p>
        </p:txBody>
      </p:sp>
      <p:sp>
        <p:nvSpPr>
          <p:cNvPr id="17" name="Shape 15"/>
          <p:cNvSpPr/>
          <p:nvPr/>
        </p:nvSpPr>
        <p:spPr>
          <a:xfrm>
            <a:off x="3380537" y="1990649"/>
            <a:ext cx="1069848" cy="665683"/>
          </a:xfrm>
          <a:prstGeom prst="roundRect">
            <a:avLst>
              <a:gd name="adj" fmla="val 34341"/>
            </a:avLst>
          </a:prstGeom>
          <a:solidFill>
            <a:srgbClr val="FCE8E5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0537" y="1990649"/>
            <a:ext cx="1069848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endParaRPr lang="en-US" sz="1590" dirty="0"/>
          </a:p>
        </p:txBody>
      </p:sp>
      <p:sp>
        <p:nvSpPr>
          <p:cNvPr id="19" name="Shape 17"/>
          <p:cNvSpPr/>
          <p:nvPr/>
        </p:nvSpPr>
        <p:spPr>
          <a:xfrm>
            <a:off x="7581290" y="1758391"/>
            <a:ext cx="471830" cy="471830"/>
          </a:xfrm>
          <a:prstGeom prst="ellipse">
            <a:avLst/>
          </a:prstGeom>
          <a:solidFill>
            <a:srgbClr val="D9483B"/>
          </a:solidFill>
          <a:ln w="1143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1290" y="1758391"/>
            <a:ext cx="471830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T60 • SECTION 03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#59: Q1-Q4 Quarterly Roadmap Tracks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12648" y="1058875"/>
            <a:ext cx="10838383" cy="5324551"/>
          </a:xfrm>
          <a:prstGeom prst="roundRect">
            <a:avLst>
              <a:gd name="adj" fmla="val 859"/>
            </a:avLst>
          </a:prstGeom>
          <a:solidFill>
            <a:srgbClr val="FDF5D7"/>
          </a:solidFill>
          <a:ln w="13335">
            <a:solidFill>
              <a:srgbClr val="E5C1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26157" y="2323490"/>
            <a:ext cx="3995928" cy="3727094"/>
          </a:xfrm>
          <a:prstGeom prst="roundRect">
            <a:avLst>
              <a:gd name="adj" fmla="val 1227"/>
            </a:avLst>
          </a:prstGeom>
          <a:solidFill>
            <a:srgbClr val="FAF9F5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6157" y="2323490"/>
            <a:ext cx="3995928" cy="3727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| Persistent Memory ✓ Wire up AlloyDB for PostgreSQL to persist conversation histories, session states, and episodic memory. ✓ AlloyDB &amp; Memory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502652" y="2323490"/>
            <a:ext cx="3948379" cy="3727094"/>
          </a:xfrm>
          <a:prstGeom prst="roundRect">
            <a:avLst>
              <a:gd name="adj" fmla="val 1227"/>
            </a:avLst>
          </a:prstGeom>
          <a:solidFill>
            <a:srgbClr val="FAF9F5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02652" y="2323490"/>
            <a:ext cx="3948379" cy="3727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| Enterprise Grounding ✓ Integrate BigQuery and Vertex AI Search to verify outputs against real-time enterprise dataset results. ✓ Vector DB Grounding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06831" y="1259129"/>
            <a:ext cx="6606540" cy="732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PHASE 3: STATE &amp; GROUNDING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8352130" y="1259129"/>
            <a:ext cx="2989174" cy="732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90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| Google Yellow</a:t>
            </a:r>
            <a:endParaRPr lang="en-US" sz="1990" dirty="0"/>
          </a:p>
        </p:txBody>
      </p:sp>
      <p:sp>
        <p:nvSpPr>
          <p:cNvPr id="15" name="Shape 13"/>
          <p:cNvSpPr/>
          <p:nvPr/>
        </p:nvSpPr>
        <p:spPr>
          <a:xfrm>
            <a:off x="8210398" y="1990649"/>
            <a:ext cx="1321308" cy="665683"/>
          </a:xfrm>
          <a:prstGeom prst="roundRect">
            <a:avLst>
              <a:gd name="adj" fmla="val 34341"/>
            </a:avLst>
          </a:prstGeom>
          <a:solidFill>
            <a:srgbClr val="FDF5D7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0398" y="1990649"/>
            <a:ext cx="1321308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ACTIVE</a:t>
            </a:r>
            <a:endParaRPr lang="en-US" sz="1590" dirty="0"/>
          </a:p>
        </p:txBody>
      </p:sp>
      <p:sp>
        <p:nvSpPr>
          <p:cNvPr id="17" name="Shape 15"/>
          <p:cNvSpPr/>
          <p:nvPr/>
        </p:nvSpPr>
        <p:spPr>
          <a:xfrm>
            <a:off x="3380537" y="1990649"/>
            <a:ext cx="1069848" cy="665683"/>
          </a:xfrm>
          <a:prstGeom prst="roundRect">
            <a:avLst>
              <a:gd name="adj" fmla="val 34341"/>
            </a:avLst>
          </a:prstGeom>
          <a:solidFill>
            <a:srgbClr val="FDF5D7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0537" y="1990649"/>
            <a:ext cx="1069848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</a:t>
            </a:r>
            <a:endParaRPr lang="en-US" sz="1590" dirty="0"/>
          </a:p>
        </p:txBody>
      </p:sp>
      <p:sp>
        <p:nvSpPr>
          <p:cNvPr id="19" name="Shape 17"/>
          <p:cNvSpPr/>
          <p:nvPr/>
        </p:nvSpPr>
        <p:spPr>
          <a:xfrm>
            <a:off x="7581290" y="1758391"/>
            <a:ext cx="471830" cy="471830"/>
          </a:xfrm>
          <a:prstGeom prst="ellipse">
            <a:avLst/>
          </a:prstGeom>
          <a:solidFill>
            <a:srgbClr val="F4B829"/>
          </a:solidFill>
          <a:ln w="1143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1290" y="1758391"/>
            <a:ext cx="471830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1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9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19456"/>
            <a:ext cx="11530584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795">
            <a:solidFill>
              <a:srgbClr val="CBD5E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320040"/>
            <a:ext cx="1847088" cy="329184"/>
          </a:xfrm>
          <a:prstGeom prst="roundRect">
            <a:avLst>
              <a:gd name="adj" fmla="val 55556"/>
            </a:avLst>
          </a:prstGeom>
          <a:solidFill>
            <a:srgbClr val="EFF6FF"/>
          </a:solidFill>
          <a:ln w="9525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320040"/>
            <a:ext cx="1847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T60 • SECTION 04 OF 04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2450592" y="219456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PromptCanvas #59: Q1-Q4 Quarterly Roadmap Tracks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9436608" y="320040"/>
            <a:ext cx="2267712" cy="329184"/>
          </a:xfrm>
          <a:prstGeom prst="roundRect">
            <a:avLst>
              <a:gd name="adj" fmla="val 55556"/>
            </a:avLst>
          </a:prstGeom>
          <a:solidFill>
            <a:srgbClr val="ECFDF5"/>
          </a:solidFill>
          <a:ln w="9525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36608" y="320040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Native Editable Shapes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12648" y="1058875"/>
            <a:ext cx="10838383" cy="5324551"/>
          </a:xfrm>
          <a:prstGeom prst="roundRect">
            <a:avLst>
              <a:gd name="adj" fmla="val 859"/>
            </a:avLst>
          </a:prstGeom>
          <a:solidFill>
            <a:srgbClr val="E4F5E8"/>
          </a:solidFill>
          <a:ln w="13335">
            <a:solidFill>
              <a:srgbClr val="68B87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26157" y="2323490"/>
            <a:ext cx="3995928" cy="3727094"/>
          </a:xfrm>
          <a:prstGeom prst="roundRect">
            <a:avLst>
              <a:gd name="adj" fmla="val 1227"/>
            </a:avLst>
          </a:prstGeom>
          <a:solidFill>
            <a:srgbClr val="FAF9F5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26157" y="2323490"/>
            <a:ext cx="3995928" cy="3727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| Human-in-the-Loop ✓ Incorporate strict policy filters, guardrails, and human check points for high-risk system actions. ✓ Audit Checkpoints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502652" y="2323490"/>
            <a:ext cx="3948379" cy="3727094"/>
          </a:xfrm>
          <a:prstGeom prst="roundRect">
            <a:avLst>
              <a:gd name="adj" fmla="val 1227"/>
            </a:avLst>
          </a:prstGeom>
          <a:solidFill>
            <a:srgbClr val="FAF9F5"/>
          </a:solidFill>
          <a:ln w="13335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02652" y="2323490"/>
            <a:ext cx="3948379" cy="3727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| Production Release ✓ Continuous monitoring, automated self-healing validation, retry limits, and Google Cloud Logging integration. ✓ Monitoring &amp; Scaling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06831" y="1259129"/>
            <a:ext cx="6606540" cy="732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PHASE 4: GOVERNANCE &amp; DEPLOYMENT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8352130" y="1259129"/>
            <a:ext cx="2989174" cy="732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90" dirty="0">
                <a:solidFill>
                  <a:srgbClr val="2F8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| Google Green</a:t>
            </a:r>
            <a:endParaRPr lang="en-US" sz="1990" dirty="0"/>
          </a:p>
        </p:txBody>
      </p:sp>
      <p:sp>
        <p:nvSpPr>
          <p:cNvPr id="15" name="Shape 13"/>
          <p:cNvSpPr/>
          <p:nvPr/>
        </p:nvSpPr>
        <p:spPr>
          <a:xfrm>
            <a:off x="8210398" y="1990649"/>
            <a:ext cx="1321308" cy="665683"/>
          </a:xfrm>
          <a:prstGeom prst="roundRect">
            <a:avLst>
              <a:gd name="adj" fmla="val 34341"/>
            </a:avLst>
          </a:prstGeom>
          <a:solidFill>
            <a:srgbClr val="E4F5E8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0398" y="1990649"/>
            <a:ext cx="1321308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</a:t>
            </a:r>
            <a:endParaRPr lang="en-US" sz="1590" dirty="0"/>
          </a:p>
        </p:txBody>
      </p:sp>
      <p:sp>
        <p:nvSpPr>
          <p:cNvPr id="17" name="Shape 15"/>
          <p:cNvSpPr/>
          <p:nvPr/>
        </p:nvSpPr>
        <p:spPr>
          <a:xfrm>
            <a:off x="3380537" y="1990649"/>
            <a:ext cx="1069848" cy="665683"/>
          </a:xfrm>
          <a:prstGeom prst="roundRect">
            <a:avLst>
              <a:gd name="adj" fmla="val 34341"/>
            </a:avLst>
          </a:prstGeom>
          <a:solidFill>
            <a:srgbClr val="E4F5E8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0537" y="1990649"/>
            <a:ext cx="1069848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1590" dirty="0"/>
          </a:p>
        </p:txBody>
      </p:sp>
      <p:sp>
        <p:nvSpPr>
          <p:cNvPr id="19" name="Shape 17"/>
          <p:cNvSpPr/>
          <p:nvPr/>
        </p:nvSpPr>
        <p:spPr>
          <a:xfrm>
            <a:off x="7581290" y="1758391"/>
            <a:ext cx="471830" cy="471830"/>
          </a:xfrm>
          <a:prstGeom prst="ellipse">
            <a:avLst/>
          </a:prstGeom>
          <a:solidFill>
            <a:srgbClr val="389856"/>
          </a:solidFill>
          <a:ln w="1143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1290" y="1758391"/>
            <a:ext cx="471830" cy="471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9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T60 — PromptCanvas #59: Q1-Q4 Quarterly Roadmap Tracks</dc:title>
  <dc:subject>PptxGenJS Presentation</dc:subject>
  <dc:creator>Google Cloud Architecture Center • Agentic AI Studio</dc:creator>
  <cp:lastModifiedBy>Google Cloud Architecture Center • Agentic AI Studio</cp:lastModifiedBy>
  <cp:revision>1</cp:revision>
  <dcterms:created xsi:type="dcterms:W3CDTF">2026-10-22T04:34:20Z</dcterms:created>
  <dcterms:modified xsi:type="dcterms:W3CDTF">2026-10-22T04:34:20Z</dcterms:modified>
</cp:coreProperties>
</file>