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9184" y="219456"/>
            <a:ext cx="11530584" cy="1225296"/>
          </a:xfrm>
          <a:prstGeom prst="roundRect">
            <a:avLst>
              <a:gd name="adj" fmla="val 2985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12064" y="329184"/>
            <a:ext cx="2331720" cy="237744"/>
          </a:xfrm>
          <a:prstGeom prst="roundRect">
            <a:avLst>
              <a:gd name="adj" fmla="val 76923"/>
            </a:avLst>
          </a:prstGeom>
          <a:solidFill>
            <a:srgbClr val="0F172A"/>
          </a:solidFill>
          <a:ln/>
        </p:spPr>
      </p:sp>
      <p:sp>
        <p:nvSpPr>
          <p:cNvPr id="4" name="Text 2"/>
          <p:cNvSpPr/>
          <p:nvPr/>
        </p:nvSpPr>
        <p:spPr>
          <a:xfrm>
            <a:off x="512064" y="329184"/>
            <a:ext cx="2331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ARCHITECTURE BLUEPRINT</a:t>
            </a:r>
            <a:endParaRPr lang="en-US" sz="850" dirty="0"/>
          </a:p>
        </p:txBody>
      </p:sp>
      <p:sp>
        <p:nvSpPr>
          <p:cNvPr id="5" name="Shape 3"/>
          <p:cNvSpPr/>
          <p:nvPr/>
        </p:nvSpPr>
        <p:spPr>
          <a:xfrm>
            <a:off x="7635240" y="329184"/>
            <a:ext cx="4041648" cy="237744"/>
          </a:xfrm>
          <a:prstGeom prst="roundRect">
            <a:avLst>
              <a:gd name="adj" fmla="val 76923"/>
            </a:avLst>
          </a:prstGeom>
          <a:solidFill>
            <a:srgbClr val="EFF6FF"/>
          </a:solidFill>
          <a:ln w="9525">
            <a:solidFill>
              <a:srgbClr val="93C5F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635240" y="329184"/>
            <a:ext cx="40416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" b="1" dirty="0">
                <a:solidFill>
                  <a:srgbClr val="1D4E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GOOGLE CLOUD ADK + VERTEX AI • OPENHANDS + LANGGRAPH</a:t>
            </a:r>
            <a:endParaRPr lang="en-US" sz="820" dirty="0"/>
          </a:p>
        </p:txBody>
      </p:sp>
      <p:sp>
        <p:nvSpPr>
          <p:cNvPr id="7" name="Text 5"/>
          <p:cNvSpPr/>
          <p:nvPr/>
        </p:nvSpPr>
        <p:spPr>
          <a:xfrm>
            <a:off x="512064" y="621792"/>
            <a:ext cx="111556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Context + Harness + Loop + Graph</a:t>
            </a:r>
            <a:endParaRPr lang="en-US" sz="1950" dirty="0"/>
          </a:p>
        </p:txBody>
      </p:sp>
      <p:sp>
        <p:nvSpPr>
          <p:cNvPr id="8" name="Text 6"/>
          <p:cNvSpPr/>
          <p:nvPr/>
        </p:nvSpPr>
        <p:spPr>
          <a:xfrm>
            <a:off x="512064" y="1042416"/>
            <a:ext cx="11155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Four parts of your AI setup. What each one does, with a prompt to try.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29184" y="1591056"/>
            <a:ext cx="2717597" cy="4425696"/>
          </a:xfrm>
          <a:prstGeom prst="roundRect">
            <a:avLst>
              <a:gd name="adj" fmla="val 1346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29184" y="1591056"/>
            <a:ext cx="2717597" cy="384048"/>
          </a:xfrm>
          <a:prstGeom prst="roundRect">
            <a:avLst>
              <a:gd name="adj" fmla="val 9524"/>
            </a:avLst>
          </a:prstGeom>
          <a:solidFill>
            <a:srgbClr val="FEF2F2"/>
          </a:solidFill>
          <a:ln w="10160">
            <a:solidFill>
              <a:srgbClr val="FCA5A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" y="1591056"/>
            <a:ext cx="157642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STAGE 01  •  SLIDE 02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1858061" y="1673352"/>
            <a:ext cx="1078992" cy="219456"/>
          </a:xfrm>
          <a:prstGeom prst="roundRect">
            <a:avLst>
              <a:gd name="adj" fmla="val 83333"/>
            </a:avLst>
          </a:prstGeom>
          <a:solidFill>
            <a:srgbClr val="0F172A"/>
          </a:solidFill>
          <a:ln/>
        </p:spPr>
      </p:sp>
      <p:sp>
        <p:nvSpPr>
          <p:cNvPr id="13" name="Text 11"/>
          <p:cNvSpPr/>
          <p:nvPr/>
        </p:nvSpPr>
        <p:spPr>
          <a:xfrm>
            <a:off x="1858061" y="1673352"/>
            <a:ext cx="10789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8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STAGE 01</a:t>
            </a:r>
            <a:endParaRPr lang="en-US" sz="780" dirty="0"/>
          </a:p>
        </p:txBody>
      </p:sp>
      <p:sp>
        <p:nvSpPr>
          <p:cNvPr id="14" name="Text 12"/>
          <p:cNvSpPr/>
          <p:nvPr/>
        </p:nvSpPr>
        <p:spPr>
          <a:xfrm>
            <a:off x="475488" y="2029968"/>
            <a:ext cx="2424989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Context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457200" y="2395728"/>
            <a:ext cx="2461565" cy="847649"/>
          </a:xfrm>
          <a:prstGeom prst="roundRect">
            <a:avLst>
              <a:gd name="adj" fmla="val 5394"/>
            </a:avLst>
          </a:prstGeom>
          <a:solidFill>
            <a:srgbClr val="F8FAFC"/>
          </a:solidFill>
          <a:ln w="10795">
            <a:solidFill>
              <a:srgbClr val="CBD5E1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66928" y="2618842"/>
            <a:ext cx="402336" cy="402336"/>
          </a:xfrm>
          <a:prstGeom prst="ellipse">
            <a:avLst/>
          </a:prstGeom>
          <a:solidFill>
            <a:srgbClr val="EFF6FF"/>
          </a:solidFill>
          <a:ln w="15240">
            <a:solidFill>
              <a:srgbClr val="0F172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66928" y="261884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2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920" dirty="0"/>
          </a:p>
        </p:txBody>
      </p:sp>
      <p:sp>
        <p:nvSpPr>
          <p:cNvPr id="18" name="Shape 16"/>
          <p:cNvSpPr/>
          <p:nvPr/>
        </p:nvSpPr>
        <p:spPr>
          <a:xfrm>
            <a:off x="2068373" y="2468880"/>
            <a:ext cx="777240" cy="182880"/>
          </a:xfrm>
          <a:prstGeom prst="roundRect">
            <a:avLst>
              <a:gd name="adj" fmla="val 100000"/>
            </a:avLst>
          </a:prstGeom>
          <a:solidFill>
            <a:srgbClr val="F1F5F9"/>
          </a:solidFill>
          <a:ln/>
        </p:spPr>
      </p:sp>
      <p:sp>
        <p:nvSpPr>
          <p:cNvPr id="19" name="Text 17"/>
          <p:cNvSpPr/>
          <p:nvPr/>
        </p:nvSpPr>
        <p:spPr>
          <a:xfrm>
            <a:off x="2068373" y="2468880"/>
            <a:ext cx="777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78350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current request</a:t>
            </a:r>
            <a:endParaRPr lang="en-US" sz="740" dirty="0"/>
          </a:p>
        </p:txBody>
      </p:sp>
      <p:sp>
        <p:nvSpPr>
          <p:cNvPr id="20" name="Text 18"/>
          <p:cNvSpPr/>
          <p:nvPr/>
        </p:nvSpPr>
        <p:spPr>
          <a:xfrm>
            <a:off x="1060704" y="2487168"/>
            <a:ext cx="989381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Your prompt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1687982" y="3261665"/>
            <a:ext cx="914" cy="164592"/>
          </a:xfrm>
          <a:prstGeom prst="line">
            <a:avLst/>
          </a:prstGeom>
          <a:noFill/>
          <a:ln w="19050">
            <a:solidFill>
              <a:srgbClr val="0F172A"/>
            </a:solidFill>
            <a:prstDash val="solid"/>
            <a:tailEnd type="triangle" w="sm" len="sm"/>
          </a:ln>
        </p:spPr>
      </p:sp>
      <p:sp>
        <p:nvSpPr>
          <p:cNvPr id="22" name="Shape 20"/>
          <p:cNvSpPr/>
          <p:nvPr/>
        </p:nvSpPr>
        <p:spPr>
          <a:xfrm>
            <a:off x="457200" y="3444545"/>
            <a:ext cx="2461565" cy="847649"/>
          </a:xfrm>
          <a:prstGeom prst="roundRect">
            <a:avLst>
              <a:gd name="adj" fmla="val 5394"/>
            </a:avLst>
          </a:prstGeom>
          <a:solidFill>
            <a:srgbClr val="F8FAFC"/>
          </a:solidFill>
          <a:ln w="10795">
            <a:solidFill>
              <a:srgbClr val="CBD5E1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566928" y="3666744"/>
            <a:ext cx="402336" cy="402336"/>
          </a:xfrm>
          <a:prstGeom prst="ellipse">
            <a:avLst/>
          </a:prstGeom>
          <a:solidFill>
            <a:srgbClr val="EFF6FF"/>
          </a:solidFill>
          <a:ln w="15240">
            <a:solidFill>
              <a:srgbClr val="0F172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66928" y="3666744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2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920" dirty="0"/>
          </a:p>
        </p:txBody>
      </p:sp>
      <p:sp>
        <p:nvSpPr>
          <p:cNvPr id="25" name="Text 23"/>
          <p:cNvSpPr/>
          <p:nvPr/>
        </p:nvSpPr>
        <p:spPr>
          <a:xfrm>
            <a:off x="1060704" y="3535985"/>
            <a:ext cx="16962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Files and results being used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1687982" y="4310482"/>
            <a:ext cx="914" cy="164592"/>
          </a:xfrm>
          <a:prstGeom prst="line">
            <a:avLst/>
          </a:prstGeom>
          <a:noFill/>
          <a:ln w="19050">
            <a:solidFill>
              <a:srgbClr val="0F172A"/>
            </a:solidFill>
            <a:prstDash val="solid"/>
            <a:tailEnd type="triangle" w="sm" len="sm"/>
          </a:ln>
        </p:spPr>
      </p:sp>
      <p:sp>
        <p:nvSpPr>
          <p:cNvPr id="27" name="Shape 25"/>
          <p:cNvSpPr/>
          <p:nvPr/>
        </p:nvSpPr>
        <p:spPr>
          <a:xfrm>
            <a:off x="457200" y="4493362"/>
            <a:ext cx="2461565" cy="847649"/>
          </a:xfrm>
          <a:prstGeom prst="roundRect">
            <a:avLst>
              <a:gd name="adj" fmla="val 5394"/>
            </a:avLst>
          </a:prstGeom>
          <a:solidFill>
            <a:srgbClr val="F8FAFC"/>
          </a:solidFill>
          <a:ln w="10795">
            <a:solidFill>
              <a:srgbClr val="CBD5E1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566928" y="4715561"/>
            <a:ext cx="402336" cy="402336"/>
          </a:xfrm>
          <a:prstGeom prst="ellipse">
            <a:avLst/>
          </a:prstGeom>
          <a:solidFill>
            <a:srgbClr val="EFF6FF"/>
          </a:solidFill>
          <a:ln w="15240">
            <a:solidFill>
              <a:srgbClr val="0F172A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66928" y="4715561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2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920" dirty="0"/>
          </a:p>
        </p:txBody>
      </p:sp>
      <p:sp>
        <p:nvSpPr>
          <p:cNvPr id="30" name="Text 28"/>
          <p:cNvSpPr/>
          <p:nvPr/>
        </p:nvSpPr>
        <p:spPr>
          <a:xfrm>
            <a:off x="1060704" y="4584802"/>
            <a:ext cx="16962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Files + chat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457200" y="5504688"/>
            <a:ext cx="2461565" cy="402336"/>
          </a:xfrm>
          <a:prstGeom prst="roundRect">
            <a:avLst>
              <a:gd name="adj" fmla="val 9091"/>
            </a:avLst>
          </a:prstGeom>
          <a:solidFill>
            <a:srgbClr val="F1F5F9"/>
          </a:solidFill>
          <a:ln w="7620">
            <a:solidFill>
              <a:srgbClr val="CBD5E1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30352" y="5504688"/>
            <a:ext cx="2315261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4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PROMPT: List the files and tool results you are using for this job. If anything is missing, n...</a:t>
            </a:r>
            <a:endParaRPr lang="en-US" sz="740" dirty="0"/>
          </a:p>
        </p:txBody>
      </p:sp>
      <p:sp>
        <p:nvSpPr>
          <p:cNvPr id="33" name="Shape 31"/>
          <p:cNvSpPr/>
          <p:nvPr/>
        </p:nvSpPr>
        <p:spPr>
          <a:xfrm>
            <a:off x="3074213" y="3803904"/>
            <a:ext cx="164592" cy="914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  <a:tailEnd type="triangle" w="sm" len="sm"/>
          </a:ln>
        </p:spPr>
      </p:sp>
      <p:sp>
        <p:nvSpPr>
          <p:cNvPr id="34" name="Shape 32"/>
          <p:cNvSpPr/>
          <p:nvPr/>
        </p:nvSpPr>
        <p:spPr>
          <a:xfrm>
            <a:off x="3266237" y="1591056"/>
            <a:ext cx="2717597" cy="4425696"/>
          </a:xfrm>
          <a:prstGeom prst="roundRect">
            <a:avLst>
              <a:gd name="adj" fmla="val 1346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3266237" y="1591056"/>
            <a:ext cx="2717597" cy="384048"/>
          </a:xfrm>
          <a:prstGeom prst="roundRect">
            <a:avLst>
              <a:gd name="adj" fmla="val 9524"/>
            </a:avLst>
          </a:prstGeom>
          <a:solidFill>
            <a:srgbClr val="EFF6FF"/>
          </a:solidFill>
          <a:ln w="10160">
            <a:solidFill>
              <a:srgbClr val="93C5FD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3394253" y="1591056"/>
            <a:ext cx="157642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933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STAGE 02  •  SLIDE 03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4795114" y="1673352"/>
            <a:ext cx="1078992" cy="219456"/>
          </a:xfrm>
          <a:prstGeom prst="roundRect">
            <a:avLst>
              <a:gd name="adj" fmla="val 83333"/>
            </a:avLst>
          </a:prstGeom>
          <a:solidFill>
            <a:srgbClr val="9333EA"/>
          </a:solidFill>
          <a:ln/>
        </p:spPr>
      </p:sp>
      <p:sp>
        <p:nvSpPr>
          <p:cNvPr id="38" name="Text 36"/>
          <p:cNvSpPr/>
          <p:nvPr/>
        </p:nvSpPr>
        <p:spPr>
          <a:xfrm>
            <a:off x="4795114" y="1673352"/>
            <a:ext cx="10789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8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STAGE 02</a:t>
            </a:r>
            <a:endParaRPr lang="en-US" sz="780" dirty="0"/>
          </a:p>
        </p:txBody>
      </p:sp>
      <p:sp>
        <p:nvSpPr>
          <p:cNvPr id="39" name="Text 37"/>
          <p:cNvSpPr/>
          <p:nvPr/>
        </p:nvSpPr>
        <p:spPr>
          <a:xfrm>
            <a:off x="3412541" y="2029968"/>
            <a:ext cx="2424989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Harness</a:t>
            </a:r>
            <a:endParaRPr lang="en-US" sz="1400" dirty="0"/>
          </a:p>
        </p:txBody>
      </p:sp>
      <p:sp>
        <p:nvSpPr>
          <p:cNvPr id="40" name="Shape 38"/>
          <p:cNvSpPr/>
          <p:nvPr/>
        </p:nvSpPr>
        <p:spPr>
          <a:xfrm>
            <a:off x="3394253" y="2395728"/>
            <a:ext cx="2461565" cy="847649"/>
          </a:xfrm>
          <a:prstGeom prst="roundRect">
            <a:avLst>
              <a:gd name="adj" fmla="val 5394"/>
            </a:avLst>
          </a:prstGeom>
          <a:solidFill>
            <a:srgbClr val="F8FAFC"/>
          </a:solidFill>
          <a:ln w="10795">
            <a:solidFill>
              <a:srgbClr val="CBD5E1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3503981" y="2618842"/>
            <a:ext cx="402336" cy="402336"/>
          </a:xfrm>
          <a:prstGeom prst="ellipse">
            <a:avLst/>
          </a:prstGeom>
          <a:solidFill>
            <a:srgbClr val="EFF6FF"/>
          </a:solidFill>
          <a:ln w="15240">
            <a:solidFill>
              <a:srgbClr val="9333EA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3503981" y="261884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20" b="1" dirty="0">
                <a:solidFill>
                  <a:srgbClr val="933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920" dirty="0"/>
          </a:p>
        </p:txBody>
      </p:sp>
      <p:sp>
        <p:nvSpPr>
          <p:cNvPr id="43" name="Shape 41"/>
          <p:cNvSpPr/>
          <p:nvPr/>
        </p:nvSpPr>
        <p:spPr>
          <a:xfrm>
            <a:off x="5005426" y="2468880"/>
            <a:ext cx="777240" cy="182880"/>
          </a:xfrm>
          <a:prstGeom prst="roundRect">
            <a:avLst>
              <a:gd name="adj" fmla="val 100000"/>
            </a:avLst>
          </a:prstGeom>
          <a:solidFill>
            <a:srgbClr val="F1F5F9"/>
          </a:solidFill>
          <a:ln/>
        </p:spPr>
      </p:sp>
      <p:sp>
        <p:nvSpPr>
          <p:cNvPr id="44" name="Text 42"/>
          <p:cNvSpPr/>
          <p:nvPr/>
        </p:nvSpPr>
        <p:spPr>
          <a:xfrm>
            <a:off x="5005426" y="2468880"/>
            <a:ext cx="777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6B21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rules</a:t>
            </a:r>
            <a:endParaRPr lang="en-US" sz="740" dirty="0"/>
          </a:p>
        </p:txBody>
      </p:sp>
      <p:sp>
        <p:nvSpPr>
          <p:cNvPr id="45" name="Text 43"/>
          <p:cNvSpPr/>
          <p:nvPr/>
        </p:nvSpPr>
        <p:spPr>
          <a:xfrm>
            <a:off x="3997757" y="2487168"/>
            <a:ext cx="989381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AGENTS.md / GEMINI.md</a:t>
            </a:r>
            <a:endParaRPr lang="en-US" sz="950" dirty="0"/>
          </a:p>
        </p:txBody>
      </p:sp>
      <p:sp>
        <p:nvSpPr>
          <p:cNvPr id="46" name="Shape 44"/>
          <p:cNvSpPr/>
          <p:nvPr/>
        </p:nvSpPr>
        <p:spPr>
          <a:xfrm>
            <a:off x="4625035" y="3261665"/>
            <a:ext cx="914" cy="164592"/>
          </a:xfrm>
          <a:prstGeom prst="line">
            <a:avLst/>
          </a:prstGeom>
          <a:noFill/>
          <a:ln w="19050">
            <a:solidFill>
              <a:srgbClr val="9333EA"/>
            </a:solidFill>
            <a:prstDash val="solid"/>
            <a:tailEnd type="triangle" w="sm" len="sm"/>
          </a:ln>
        </p:spPr>
      </p:sp>
      <p:sp>
        <p:nvSpPr>
          <p:cNvPr id="47" name="Shape 45"/>
          <p:cNvSpPr/>
          <p:nvPr/>
        </p:nvSpPr>
        <p:spPr>
          <a:xfrm>
            <a:off x="3394253" y="3444545"/>
            <a:ext cx="2461565" cy="847649"/>
          </a:xfrm>
          <a:prstGeom prst="roundRect">
            <a:avLst>
              <a:gd name="adj" fmla="val 5394"/>
            </a:avLst>
          </a:prstGeom>
          <a:solidFill>
            <a:srgbClr val="F8FAFC"/>
          </a:solidFill>
          <a:ln w="10795">
            <a:solidFill>
              <a:srgbClr val="CBD5E1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3503981" y="3666744"/>
            <a:ext cx="402336" cy="402336"/>
          </a:xfrm>
          <a:prstGeom prst="ellipse">
            <a:avLst/>
          </a:prstGeom>
          <a:solidFill>
            <a:srgbClr val="EFF6FF"/>
          </a:solidFill>
          <a:ln w="15240">
            <a:solidFill>
              <a:srgbClr val="9333EA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3503981" y="3666744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20" b="1" dirty="0">
                <a:solidFill>
                  <a:srgbClr val="933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920" dirty="0"/>
          </a:p>
        </p:txBody>
      </p:sp>
      <p:sp>
        <p:nvSpPr>
          <p:cNvPr id="50" name="Text 48"/>
          <p:cNvSpPr/>
          <p:nvPr/>
        </p:nvSpPr>
        <p:spPr>
          <a:xfrm>
            <a:off x="3997757" y="3535985"/>
            <a:ext cx="16962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CONNECTED TOOLS Files · apps · command</a:t>
            </a:r>
            <a:endParaRPr lang="en-US" sz="950" dirty="0"/>
          </a:p>
        </p:txBody>
      </p:sp>
      <p:sp>
        <p:nvSpPr>
          <p:cNvPr id="51" name="Shape 49"/>
          <p:cNvSpPr/>
          <p:nvPr/>
        </p:nvSpPr>
        <p:spPr>
          <a:xfrm>
            <a:off x="4625035" y="4310482"/>
            <a:ext cx="914" cy="164592"/>
          </a:xfrm>
          <a:prstGeom prst="line">
            <a:avLst/>
          </a:prstGeom>
          <a:noFill/>
          <a:ln w="19050">
            <a:solidFill>
              <a:srgbClr val="9333EA"/>
            </a:solidFill>
            <a:prstDash val="solid"/>
            <a:tailEnd type="triangle" w="sm" len="sm"/>
          </a:ln>
        </p:spPr>
      </p:sp>
      <p:sp>
        <p:nvSpPr>
          <p:cNvPr id="52" name="Shape 50"/>
          <p:cNvSpPr/>
          <p:nvPr/>
        </p:nvSpPr>
        <p:spPr>
          <a:xfrm>
            <a:off x="3394253" y="4493362"/>
            <a:ext cx="2461565" cy="847649"/>
          </a:xfrm>
          <a:prstGeom prst="roundRect">
            <a:avLst>
              <a:gd name="adj" fmla="val 5394"/>
            </a:avLst>
          </a:prstGeom>
          <a:solidFill>
            <a:srgbClr val="F8FAFC"/>
          </a:solidFill>
          <a:ln w="10795">
            <a:solidFill>
              <a:srgbClr val="CBD5E1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3503981" y="4715561"/>
            <a:ext cx="402336" cy="402336"/>
          </a:xfrm>
          <a:prstGeom prst="ellipse">
            <a:avLst/>
          </a:prstGeom>
          <a:solidFill>
            <a:srgbClr val="EFF6FF"/>
          </a:solidFill>
          <a:ln w="15240">
            <a:solidFill>
              <a:srgbClr val="9333EA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3503981" y="4715561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20" b="1" dirty="0">
                <a:solidFill>
                  <a:srgbClr val="933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920" dirty="0"/>
          </a:p>
        </p:txBody>
      </p:sp>
      <p:sp>
        <p:nvSpPr>
          <p:cNvPr id="55" name="Text 53"/>
          <p:cNvSpPr/>
          <p:nvPr/>
        </p:nvSpPr>
        <p:spPr>
          <a:xfrm>
            <a:off x="3997757" y="4584802"/>
            <a:ext cx="16962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YOUR CHECKS What counts as done</a:t>
            </a:r>
            <a:endParaRPr lang="en-US" sz="950" dirty="0"/>
          </a:p>
        </p:txBody>
      </p:sp>
      <p:sp>
        <p:nvSpPr>
          <p:cNvPr id="56" name="Shape 54"/>
          <p:cNvSpPr/>
          <p:nvPr/>
        </p:nvSpPr>
        <p:spPr>
          <a:xfrm>
            <a:off x="3394253" y="5504688"/>
            <a:ext cx="2461565" cy="402336"/>
          </a:xfrm>
          <a:prstGeom prst="roundRect">
            <a:avLst>
              <a:gd name="adj" fmla="val 9091"/>
            </a:avLst>
          </a:prstGeom>
          <a:solidFill>
            <a:srgbClr val="F1F5F9"/>
          </a:solidFill>
          <a:ln w="7620">
            <a:solidFill>
              <a:srgbClr val="CBD5E1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3467405" y="5504688"/>
            <a:ext cx="2315261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4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PROMPT: Read AGENTS.md and GEMINI.md. Use the connected tools and skills needed for this job....</a:t>
            </a:r>
            <a:endParaRPr lang="en-US" sz="740" dirty="0"/>
          </a:p>
        </p:txBody>
      </p:sp>
      <p:sp>
        <p:nvSpPr>
          <p:cNvPr id="58" name="Shape 56"/>
          <p:cNvSpPr/>
          <p:nvPr/>
        </p:nvSpPr>
        <p:spPr>
          <a:xfrm>
            <a:off x="6011266" y="3803904"/>
            <a:ext cx="164592" cy="914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  <a:tailEnd type="triangle" w="sm" len="sm"/>
          </a:ln>
        </p:spPr>
      </p:sp>
      <p:sp>
        <p:nvSpPr>
          <p:cNvPr id="59" name="Shape 57"/>
          <p:cNvSpPr/>
          <p:nvPr/>
        </p:nvSpPr>
        <p:spPr>
          <a:xfrm>
            <a:off x="6203290" y="1591056"/>
            <a:ext cx="2717597" cy="4425696"/>
          </a:xfrm>
          <a:prstGeom prst="roundRect">
            <a:avLst>
              <a:gd name="adj" fmla="val 1346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6203290" y="1591056"/>
            <a:ext cx="2717597" cy="384048"/>
          </a:xfrm>
          <a:prstGeom prst="roundRect">
            <a:avLst>
              <a:gd name="adj" fmla="val 9524"/>
            </a:avLst>
          </a:prstGeom>
          <a:solidFill>
            <a:srgbClr val="ECFDF5"/>
          </a:solidFill>
          <a:ln w="10160">
            <a:solidFill>
              <a:srgbClr val="6EE7B7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6331306" y="1591056"/>
            <a:ext cx="157642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STAGE 03  •  SLIDE 04</a:t>
            </a:r>
            <a:endParaRPr lang="en-US" sz="900" dirty="0"/>
          </a:p>
        </p:txBody>
      </p:sp>
      <p:sp>
        <p:nvSpPr>
          <p:cNvPr id="62" name="Shape 60"/>
          <p:cNvSpPr/>
          <p:nvPr/>
        </p:nvSpPr>
        <p:spPr>
          <a:xfrm>
            <a:off x="7732166" y="1673352"/>
            <a:ext cx="1078992" cy="219456"/>
          </a:xfrm>
          <a:prstGeom prst="roundRect">
            <a:avLst>
              <a:gd name="adj" fmla="val 83333"/>
            </a:avLst>
          </a:prstGeom>
          <a:solidFill>
            <a:srgbClr val="059669"/>
          </a:solidFill>
          <a:ln/>
        </p:spPr>
      </p:sp>
      <p:sp>
        <p:nvSpPr>
          <p:cNvPr id="63" name="Text 61"/>
          <p:cNvSpPr/>
          <p:nvPr/>
        </p:nvSpPr>
        <p:spPr>
          <a:xfrm>
            <a:off x="7732166" y="1673352"/>
            <a:ext cx="10789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8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GAUGE PROOF</a:t>
            </a:r>
            <a:endParaRPr lang="en-US" sz="780" dirty="0"/>
          </a:p>
        </p:txBody>
      </p:sp>
      <p:sp>
        <p:nvSpPr>
          <p:cNvPr id="64" name="Text 62"/>
          <p:cNvSpPr/>
          <p:nvPr/>
        </p:nvSpPr>
        <p:spPr>
          <a:xfrm>
            <a:off x="6349594" y="2029968"/>
            <a:ext cx="2424989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Loop</a:t>
            </a:r>
            <a:endParaRPr lang="en-US" sz="1400" dirty="0"/>
          </a:p>
        </p:txBody>
      </p:sp>
      <p:sp>
        <p:nvSpPr>
          <p:cNvPr id="65" name="Shape 63"/>
          <p:cNvSpPr/>
          <p:nvPr/>
        </p:nvSpPr>
        <p:spPr>
          <a:xfrm>
            <a:off x="6331306" y="2395728"/>
            <a:ext cx="2461565" cy="847649"/>
          </a:xfrm>
          <a:prstGeom prst="roundRect">
            <a:avLst>
              <a:gd name="adj" fmla="val 5394"/>
            </a:avLst>
          </a:prstGeom>
          <a:solidFill>
            <a:srgbClr val="F8FAFC"/>
          </a:solidFill>
          <a:ln w="10795">
            <a:solidFill>
              <a:srgbClr val="CBD5E1"/>
            </a:solidFill>
            <a:prstDash val="solid"/>
          </a:ln>
        </p:spPr>
      </p:sp>
      <p:sp>
        <p:nvSpPr>
          <p:cNvPr id="66" name="Shape 64"/>
          <p:cNvSpPr/>
          <p:nvPr/>
        </p:nvSpPr>
        <p:spPr>
          <a:xfrm>
            <a:off x="6441034" y="2618842"/>
            <a:ext cx="402336" cy="402336"/>
          </a:xfrm>
          <a:prstGeom prst="ellipse">
            <a:avLst/>
          </a:prstGeom>
          <a:solidFill>
            <a:srgbClr val="EFF6FF"/>
          </a:solidFill>
          <a:ln w="15240">
            <a:solidFill>
              <a:srgbClr val="059669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6441034" y="261884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20" b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920" dirty="0"/>
          </a:p>
        </p:txBody>
      </p:sp>
      <p:sp>
        <p:nvSpPr>
          <p:cNvPr id="68" name="Text 66"/>
          <p:cNvSpPr/>
          <p:nvPr/>
        </p:nvSpPr>
        <p:spPr>
          <a:xfrm>
            <a:off x="6934810" y="2487168"/>
            <a:ext cx="16962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CHECK THE OUTPUT ☐ Every box fits ☐ No</a:t>
            </a:r>
            <a:endParaRPr lang="en-US" sz="950" dirty="0"/>
          </a:p>
        </p:txBody>
      </p:sp>
      <p:sp>
        <p:nvSpPr>
          <p:cNvPr id="69" name="Shape 67"/>
          <p:cNvSpPr/>
          <p:nvPr/>
        </p:nvSpPr>
        <p:spPr>
          <a:xfrm>
            <a:off x="7562088" y="3261665"/>
            <a:ext cx="914" cy="164592"/>
          </a:xfrm>
          <a:prstGeom prst="line">
            <a:avLst/>
          </a:prstGeom>
          <a:noFill/>
          <a:ln w="19050">
            <a:solidFill>
              <a:srgbClr val="059669"/>
            </a:solidFill>
            <a:prstDash val="solid"/>
            <a:tailEnd type="triangle" w="sm" len="sm"/>
          </a:ln>
        </p:spPr>
      </p:sp>
      <p:sp>
        <p:nvSpPr>
          <p:cNvPr id="70" name="Shape 68"/>
          <p:cNvSpPr/>
          <p:nvPr/>
        </p:nvSpPr>
        <p:spPr>
          <a:xfrm>
            <a:off x="6331306" y="3444545"/>
            <a:ext cx="2461565" cy="847649"/>
          </a:xfrm>
          <a:prstGeom prst="roundRect">
            <a:avLst>
              <a:gd name="adj" fmla="val 5394"/>
            </a:avLst>
          </a:prstGeom>
          <a:solidFill>
            <a:srgbClr val="F8FAFC"/>
          </a:solidFill>
          <a:ln w="10795">
            <a:solidFill>
              <a:srgbClr val="CBD5E1"/>
            </a:solidFill>
            <a:prstDash val="solid"/>
          </a:ln>
        </p:spPr>
      </p:sp>
      <p:sp>
        <p:nvSpPr>
          <p:cNvPr id="71" name="Shape 69"/>
          <p:cNvSpPr/>
          <p:nvPr/>
        </p:nvSpPr>
        <p:spPr>
          <a:xfrm>
            <a:off x="6441034" y="3666744"/>
            <a:ext cx="402336" cy="402336"/>
          </a:xfrm>
          <a:prstGeom prst="ellipse">
            <a:avLst/>
          </a:prstGeom>
          <a:solidFill>
            <a:srgbClr val="EFF6FF"/>
          </a:solidFill>
          <a:ln w="15240">
            <a:solidFill>
              <a:srgbClr val="059669"/>
            </a:solidFill>
            <a:prstDash val="solid"/>
          </a:ln>
        </p:spPr>
      </p:sp>
      <p:sp>
        <p:nvSpPr>
          <p:cNvPr id="72" name="Text 70"/>
          <p:cNvSpPr/>
          <p:nvPr/>
        </p:nvSpPr>
        <p:spPr>
          <a:xfrm>
            <a:off x="6441034" y="3666744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20" b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920" dirty="0"/>
          </a:p>
        </p:txBody>
      </p:sp>
      <p:sp>
        <p:nvSpPr>
          <p:cNvPr id="73" name="Text 71"/>
          <p:cNvSpPr/>
          <p:nvPr/>
        </p:nvSpPr>
        <p:spPr>
          <a:xfrm>
            <a:off x="6934810" y="3535985"/>
            <a:ext cx="16962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 checks pass?</a:t>
            </a:r>
            <a:endParaRPr lang="en-US" sz="950" dirty="0"/>
          </a:p>
        </p:txBody>
      </p:sp>
      <p:sp>
        <p:nvSpPr>
          <p:cNvPr id="74" name="Shape 72"/>
          <p:cNvSpPr/>
          <p:nvPr/>
        </p:nvSpPr>
        <p:spPr>
          <a:xfrm>
            <a:off x="7562088" y="4310482"/>
            <a:ext cx="914" cy="164592"/>
          </a:xfrm>
          <a:prstGeom prst="line">
            <a:avLst/>
          </a:prstGeom>
          <a:noFill/>
          <a:ln w="19050">
            <a:solidFill>
              <a:srgbClr val="059669"/>
            </a:solidFill>
            <a:prstDash val="solid"/>
            <a:tailEnd type="triangle" w="sm" len="sm"/>
          </a:ln>
        </p:spPr>
      </p:sp>
      <p:sp>
        <p:nvSpPr>
          <p:cNvPr id="75" name="Shape 73"/>
          <p:cNvSpPr/>
          <p:nvPr/>
        </p:nvSpPr>
        <p:spPr>
          <a:xfrm>
            <a:off x="6331306" y="4493362"/>
            <a:ext cx="2461565" cy="847649"/>
          </a:xfrm>
          <a:prstGeom prst="roundRect">
            <a:avLst>
              <a:gd name="adj" fmla="val 5394"/>
            </a:avLst>
          </a:prstGeom>
          <a:solidFill>
            <a:srgbClr val="F8FAFC"/>
          </a:solidFill>
          <a:ln w="10795">
            <a:solidFill>
              <a:srgbClr val="CBD5E1"/>
            </a:solidFill>
            <a:prstDash val="solid"/>
          </a:ln>
        </p:spPr>
      </p:sp>
      <p:sp>
        <p:nvSpPr>
          <p:cNvPr id="76" name="Shape 74"/>
          <p:cNvSpPr/>
          <p:nvPr/>
        </p:nvSpPr>
        <p:spPr>
          <a:xfrm>
            <a:off x="6441034" y="4715561"/>
            <a:ext cx="402336" cy="402336"/>
          </a:xfrm>
          <a:prstGeom prst="ellipse">
            <a:avLst/>
          </a:prstGeom>
          <a:solidFill>
            <a:srgbClr val="EFF6FF"/>
          </a:solidFill>
          <a:ln w="15240">
            <a:solidFill>
              <a:srgbClr val="059669"/>
            </a:solidFill>
            <a:prstDash val="solid"/>
          </a:ln>
        </p:spPr>
      </p:sp>
      <p:sp>
        <p:nvSpPr>
          <p:cNvPr id="77" name="Text 75"/>
          <p:cNvSpPr/>
          <p:nvPr/>
        </p:nvSpPr>
        <p:spPr>
          <a:xfrm>
            <a:off x="6441034" y="4715561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20" b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920" dirty="0"/>
          </a:p>
        </p:txBody>
      </p:sp>
      <p:sp>
        <p:nvSpPr>
          <p:cNvPr id="78" name="Text 76"/>
          <p:cNvSpPr/>
          <p:nvPr/>
        </p:nvSpPr>
        <p:spPr>
          <a:xfrm>
            <a:off x="6934810" y="4584802"/>
            <a:ext cx="16962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Done</a:t>
            </a:r>
            <a:endParaRPr lang="en-US" sz="950" dirty="0"/>
          </a:p>
        </p:txBody>
      </p:sp>
      <p:sp>
        <p:nvSpPr>
          <p:cNvPr id="79" name="Shape 77"/>
          <p:cNvSpPr/>
          <p:nvPr/>
        </p:nvSpPr>
        <p:spPr>
          <a:xfrm>
            <a:off x="6331306" y="5504688"/>
            <a:ext cx="2461565" cy="402336"/>
          </a:xfrm>
          <a:prstGeom prst="roundRect">
            <a:avLst>
              <a:gd name="adj" fmla="val 9091"/>
            </a:avLst>
          </a:prstGeom>
          <a:solidFill>
            <a:srgbClr val="F1F5F9"/>
          </a:solidFill>
          <a:ln w="7620">
            <a:solidFill>
              <a:srgbClr val="CBD5E1"/>
            </a:solidFill>
            <a:prstDash val="solid"/>
          </a:ln>
        </p:spPr>
      </p:sp>
      <p:sp>
        <p:nvSpPr>
          <p:cNvPr id="80" name="Text 78"/>
          <p:cNvSpPr/>
          <p:nvPr/>
        </p:nvSpPr>
        <p:spPr>
          <a:xfrm>
            <a:off x="6404458" y="5504688"/>
            <a:ext cx="2315261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4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PROMPT: Check that every box fits and nothing is cut off. Fix failures and recheck. Stop afte...</a:t>
            </a:r>
            <a:endParaRPr lang="en-US" sz="740" dirty="0"/>
          </a:p>
        </p:txBody>
      </p:sp>
      <p:sp>
        <p:nvSpPr>
          <p:cNvPr id="81" name="Shape 79"/>
          <p:cNvSpPr/>
          <p:nvPr/>
        </p:nvSpPr>
        <p:spPr>
          <a:xfrm>
            <a:off x="8948318" y="3803904"/>
            <a:ext cx="164592" cy="914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  <a:tailEnd type="triangle" w="sm" len="sm"/>
          </a:ln>
        </p:spPr>
      </p:sp>
      <p:sp>
        <p:nvSpPr>
          <p:cNvPr id="82" name="Shape 80"/>
          <p:cNvSpPr/>
          <p:nvPr/>
        </p:nvSpPr>
        <p:spPr>
          <a:xfrm>
            <a:off x="9140342" y="1591056"/>
            <a:ext cx="2717597" cy="4425696"/>
          </a:xfrm>
          <a:prstGeom prst="roundRect">
            <a:avLst>
              <a:gd name="adj" fmla="val 1346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3" name="Shape 81"/>
          <p:cNvSpPr/>
          <p:nvPr/>
        </p:nvSpPr>
        <p:spPr>
          <a:xfrm>
            <a:off x="9140342" y="1591056"/>
            <a:ext cx="2717597" cy="384048"/>
          </a:xfrm>
          <a:prstGeom prst="roundRect">
            <a:avLst>
              <a:gd name="adj" fmla="val 9524"/>
            </a:avLst>
          </a:prstGeom>
          <a:solidFill>
            <a:srgbClr val="FAF5FF"/>
          </a:solidFill>
          <a:ln w="10160">
            <a:solidFill>
              <a:srgbClr val="D8B4FE"/>
            </a:solidFill>
            <a:prstDash val="solid"/>
          </a:ln>
        </p:spPr>
      </p:sp>
      <p:sp>
        <p:nvSpPr>
          <p:cNvPr id="84" name="Text 82"/>
          <p:cNvSpPr/>
          <p:nvPr/>
        </p:nvSpPr>
        <p:spPr>
          <a:xfrm>
            <a:off x="9268358" y="1591056"/>
            <a:ext cx="157642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STAGE 04  •  SLIDE 05</a:t>
            </a:r>
            <a:endParaRPr lang="en-US" sz="900" dirty="0"/>
          </a:p>
        </p:txBody>
      </p:sp>
      <p:sp>
        <p:nvSpPr>
          <p:cNvPr id="85" name="Shape 83"/>
          <p:cNvSpPr/>
          <p:nvPr/>
        </p:nvSpPr>
        <p:spPr>
          <a:xfrm>
            <a:off x="10669219" y="1673352"/>
            <a:ext cx="1078992" cy="219456"/>
          </a:xfrm>
          <a:prstGeom prst="roundRect">
            <a:avLst>
              <a:gd name="adj" fmla="val 83333"/>
            </a:avLst>
          </a:prstGeom>
          <a:solidFill>
            <a:srgbClr val="2563EB"/>
          </a:solidFill>
          <a:ln/>
        </p:spPr>
      </p:sp>
      <p:sp>
        <p:nvSpPr>
          <p:cNvPr id="86" name="Text 84"/>
          <p:cNvSpPr/>
          <p:nvPr/>
        </p:nvSpPr>
        <p:spPr>
          <a:xfrm>
            <a:off x="10669219" y="1673352"/>
            <a:ext cx="10789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8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STAGE 04</a:t>
            </a:r>
            <a:endParaRPr lang="en-US" sz="780" dirty="0"/>
          </a:p>
        </p:txBody>
      </p:sp>
      <p:sp>
        <p:nvSpPr>
          <p:cNvPr id="87" name="Text 85"/>
          <p:cNvSpPr/>
          <p:nvPr/>
        </p:nvSpPr>
        <p:spPr>
          <a:xfrm>
            <a:off x="9286646" y="2029968"/>
            <a:ext cx="2424989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Graph</a:t>
            </a:r>
            <a:endParaRPr lang="en-US" sz="1400" dirty="0"/>
          </a:p>
        </p:txBody>
      </p:sp>
      <p:sp>
        <p:nvSpPr>
          <p:cNvPr id="88" name="Shape 86"/>
          <p:cNvSpPr/>
          <p:nvPr/>
        </p:nvSpPr>
        <p:spPr>
          <a:xfrm>
            <a:off x="9268358" y="2395728"/>
            <a:ext cx="2461565" cy="847649"/>
          </a:xfrm>
          <a:prstGeom prst="roundRect">
            <a:avLst>
              <a:gd name="adj" fmla="val 5394"/>
            </a:avLst>
          </a:prstGeom>
          <a:solidFill>
            <a:srgbClr val="F8FAFC"/>
          </a:solidFill>
          <a:ln w="10795">
            <a:solidFill>
              <a:srgbClr val="CBD5E1"/>
            </a:solidFill>
            <a:prstDash val="solid"/>
          </a:ln>
        </p:spPr>
      </p:sp>
      <p:sp>
        <p:nvSpPr>
          <p:cNvPr id="89" name="Shape 87"/>
          <p:cNvSpPr/>
          <p:nvPr/>
        </p:nvSpPr>
        <p:spPr>
          <a:xfrm>
            <a:off x="9378086" y="2618842"/>
            <a:ext cx="402336" cy="402336"/>
          </a:xfrm>
          <a:prstGeom prst="ellipse">
            <a:avLst/>
          </a:prstGeom>
          <a:solidFill>
            <a:srgbClr val="EFF6FF"/>
          </a:solidFill>
          <a:ln w="15240">
            <a:solidFill>
              <a:srgbClr val="2563EB"/>
            </a:solidFill>
            <a:prstDash val="solid"/>
          </a:ln>
        </p:spPr>
      </p:sp>
      <p:sp>
        <p:nvSpPr>
          <p:cNvPr id="90" name="Text 88"/>
          <p:cNvSpPr/>
          <p:nvPr/>
        </p:nvSpPr>
        <p:spPr>
          <a:xfrm>
            <a:off x="9378086" y="261884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2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920" dirty="0"/>
          </a:p>
        </p:txBody>
      </p:sp>
      <p:sp>
        <p:nvSpPr>
          <p:cNvPr id="91" name="Text 89"/>
          <p:cNvSpPr/>
          <p:nvPr/>
        </p:nvSpPr>
        <p:spPr>
          <a:xfrm>
            <a:off x="9871862" y="2487168"/>
            <a:ext cx="16962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brief.md</a:t>
            </a:r>
            <a:endParaRPr lang="en-US" sz="950" dirty="0"/>
          </a:p>
        </p:txBody>
      </p:sp>
      <p:sp>
        <p:nvSpPr>
          <p:cNvPr id="92" name="Shape 90"/>
          <p:cNvSpPr/>
          <p:nvPr/>
        </p:nvSpPr>
        <p:spPr>
          <a:xfrm>
            <a:off x="10499141" y="3261665"/>
            <a:ext cx="914" cy="164592"/>
          </a:xfrm>
          <a:prstGeom prst="line">
            <a:avLst/>
          </a:prstGeom>
          <a:noFill/>
          <a:ln w="19050">
            <a:solidFill>
              <a:srgbClr val="2563EB"/>
            </a:solidFill>
            <a:prstDash val="solid"/>
            <a:tailEnd type="triangle" w="sm" len="sm"/>
          </a:ln>
        </p:spPr>
      </p:sp>
      <p:sp>
        <p:nvSpPr>
          <p:cNvPr id="93" name="Shape 91"/>
          <p:cNvSpPr/>
          <p:nvPr/>
        </p:nvSpPr>
        <p:spPr>
          <a:xfrm>
            <a:off x="9268358" y="3444545"/>
            <a:ext cx="2461565" cy="847649"/>
          </a:xfrm>
          <a:prstGeom prst="roundRect">
            <a:avLst>
              <a:gd name="adj" fmla="val 5394"/>
            </a:avLst>
          </a:prstGeom>
          <a:solidFill>
            <a:srgbClr val="F8FAFC"/>
          </a:solidFill>
          <a:ln w="10795">
            <a:solidFill>
              <a:srgbClr val="CBD5E1"/>
            </a:solidFill>
            <a:prstDash val="solid"/>
          </a:ln>
        </p:spPr>
      </p:sp>
      <p:sp>
        <p:nvSpPr>
          <p:cNvPr id="94" name="Shape 92"/>
          <p:cNvSpPr/>
          <p:nvPr/>
        </p:nvSpPr>
        <p:spPr>
          <a:xfrm>
            <a:off x="9378086" y="3666744"/>
            <a:ext cx="402336" cy="402336"/>
          </a:xfrm>
          <a:prstGeom prst="ellipse">
            <a:avLst/>
          </a:prstGeom>
          <a:solidFill>
            <a:srgbClr val="EFF6FF"/>
          </a:solidFill>
          <a:ln w="15240">
            <a:solidFill>
              <a:srgbClr val="2563EB"/>
            </a:solidFill>
            <a:prstDash val="solid"/>
          </a:ln>
        </p:spPr>
      </p:sp>
      <p:sp>
        <p:nvSpPr>
          <p:cNvPr id="95" name="Text 93"/>
          <p:cNvSpPr/>
          <p:nvPr/>
        </p:nvSpPr>
        <p:spPr>
          <a:xfrm>
            <a:off x="9378086" y="3666744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2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920" dirty="0"/>
          </a:p>
        </p:txBody>
      </p:sp>
      <p:sp>
        <p:nvSpPr>
          <p:cNvPr id="96" name="Text 94"/>
          <p:cNvSpPr/>
          <p:nvPr/>
        </p:nvSpPr>
        <p:spPr>
          <a:xfrm>
            <a:off x="9871862" y="3535985"/>
            <a:ext cx="16962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audience.md</a:t>
            </a:r>
            <a:endParaRPr lang="en-US" sz="950" dirty="0"/>
          </a:p>
        </p:txBody>
      </p:sp>
      <p:sp>
        <p:nvSpPr>
          <p:cNvPr id="97" name="Shape 95"/>
          <p:cNvSpPr/>
          <p:nvPr/>
        </p:nvSpPr>
        <p:spPr>
          <a:xfrm>
            <a:off x="10499141" y="4310482"/>
            <a:ext cx="914" cy="164592"/>
          </a:xfrm>
          <a:prstGeom prst="line">
            <a:avLst/>
          </a:prstGeom>
          <a:noFill/>
          <a:ln w="19050">
            <a:solidFill>
              <a:srgbClr val="2563EB"/>
            </a:solidFill>
            <a:prstDash val="solid"/>
            <a:tailEnd type="triangle" w="sm" len="sm"/>
          </a:ln>
        </p:spPr>
      </p:sp>
      <p:sp>
        <p:nvSpPr>
          <p:cNvPr id="98" name="Shape 96"/>
          <p:cNvSpPr/>
          <p:nvPr/>
        </p:nvSpPr>
        <p:spPr>
          <a:xfrm>
            <a:off x="9268358" y="4493362"/>
            <a:ext cx="2461565" cy="847649"/>
          </a:xfrm>
          <a:prstGeom prst="roundRect">
            <a:avLst>
              <a:gd name="adj" fmla="val 5394"/>
            </a:avLst>
          </a:prstGeom>
          <a:solidFill>
            <a:srgbClr val="F8FAFC"/>
          </a:solidFill>
          <a:ln w="10795">
            <a:solidFill>
              <a:srgbClr val="CBD5E1"/>
            </a:solidFill>
            <a:prstDash val="solid"/>
          </a:ln>
        </p:spPr>
      </p:sp>
      <p:sp>
        <p:nvSpPr>
          <p:cNvPr id="99" name="Shape 97"/>
          <p:cNvSpPr/>
          <p:nvPr/>
        </p:nvSpPr>
        <p:spPr>
          <a:xfrm>
            <a:off x="9378086" y="4715561"/>
            <a:ext cx="402336" cy="402336"/>
          </a:xfrm>
          <a:prstGeom prst="ellipse">
            <a:avLst/>
          </a:prstGeom>
          <a:solidFill>
            <a:srgbClr val="EFF6FF"/>
          </a:solidFill>
          <a:ln w="15240">
            <a:solidFill>
              <a:srgbClr val="2563EB"/>
            </a:solidFill>
            <a:prstDash val="solid"/>
          </a:ln>
        </p:spPr>
      </p:sp>
      <p:sp>
        <p:nvSpPr>
          <p:cNvPr id="100" name="Text 98"/>
          <p:cNvSpPr/>
          <p:nvPr/>
        </p:nvSpPr>
        <p:spPr>
          <a:xfrm>
            <a:off x="9378086" y="4715561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2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920" dirty="0"/>
          </a:p>
        </p:txBody>
      </p:sp>
      <p:sp>
        <p:nvSpPr>
          <p:cNvPr id="101" name="Text 99"/>
          <p:cNvSpPr/>
          <p:nvPr/>
        </p:nvSpPr>
        <p:spPr>
          <a:xfrm>
            <a:off x="9871862" y="4584802"/>
            <a:ext cx="16962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notes.md</a:t>
            </a:r>
            <a:endParaRPr lang="en-US" sz="950" dirty="0"/>
          </a:p>
        </p:txBody>
      </p:sp>
      <p:sp>
        <p:nvSpPr>
          <p:cNvPr id="102" name="Shape 100"/>
          <p:cNvSpPr/>
          <p:nvPr/>
        </p:nvSpPr>
        <p:spPr>
          <a:xfrm>
            <a:off x="9268358" y="5504688"/>
            <a:ext cx="2461565" cy="402336"/>
          </a:xfrm>
          <a:prstGeom prst="roundRect">
            <a:avLst>
              <a:gd name="adj" fmla="val 9091"/>
            </a:avLst>
          </a:prstGeom>
          <a:solidFill>
            <a:srgbClr val="F1F5F9"/>
          </a:solidFill>
          <a:ln w="7620">
            <a:solidFill>
              <a:srgbClr val="CBD5E1"/>
            </a:solidFill>
            <a:prstDash val="solid"/>
          </a:ln>
        </p:spPr>
      </p:sp>
      <p:sp>
        <p:nvSpPr>
          <p:cNvPr id="103" name="Text 101"/>
          <p:cNvSpPr/>
          <p:nvPr/>
        </p:nvSpPr>
        <p:spPr>
          <a:xfrm>
            <a:off x="9341510" y="5504688"/>
            <a:ext cx="2315261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4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PROMPT: Read this folder. Write MAP.md: topics, unlinked files, connections, date and files r...</a:t>
            </a:r>
            <a:endParaRPr lang="en-US" sz="740" dirty="0"/>
          </a:p>
        </p:txBody>
      </p:sp>
      <p:sp>
        <p:nvSpPr>
          <p:cNvPr id="104" name="Shape 102"/>
          <p:cNvSpPr/>
          <p:nvPr/>
        </p:nvSpPr>
        <p:spPr>
          <a:xfrm>
            <a:off x="329184" y="6126480"/>
            <a:ext cx="11530584" cy="475488"/>
          </a:xfrm>
          <a:prstGeom prst="roundRect">
            <a:avLst>
              <a:gd name="adj" fmla="val 7692"/>
            </a:avLst>
          </a:prstGeom>
          <a:solidFill>
            <a:srgbClr val="0F172A"/>
          </a:solidFill>
          <a:ln/>
        </p:spPr>
      </p:sp>
      <p:sp>
        <p:nvSpPr>
          <p:cNvPr id="105" name="Text 103"/>
          <p:cNvSpPr/>
          <p:nvPr/>
        </p:nvSpPr>
        <p:spPr>
          <a:xfrm>
            <a:off x="512064" y="6126480"/>
            <a:ext cx="4206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SLIDE 01 OF 05  •  EXECUTIVE ARCHITECTURE OVERVIEW</a:t>
            </a:r>
            <a:endParaRPr lang="en-US" sz="900" dirty="0"/>
          </a:p>
        </p:txBody>
      </p:sp>
      <p:sp>
        <p:nvSpPr>
          <p:cNvPr id="106" name="Text 104"/>
          <p:cNvSpPr/>
          <p:nvPr/>
        </p:nvSpPr>
        <p:spPr>
          <a:xfrm>
            <a:off x="4754880" y="6126480"/>
            <a:ext cx="69037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2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Slides 02–05 render each architecture section as a full-bleed 16:9 widescreen editable diagram.</a:t>
            </a:r>
            <a:endParaRPr lang="en-US" sz="92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9184" y="219456"/>
            <a:ext cx="11530584" cy="530352"/>
          </a:xfrm>
          <a:prstGeom prst="roundRect">
            <a:avLst>
              <a:gd name="adj" fmla="val 6897"/>
            </a:avLst>
          </a:prstGeom>
          <a:solidFill>
            <a:srgbClr val="FFFFFF"/>
          </a:solidFill>
          <a:ln w="10795">
            <a:solidFill>
              <a:srgbClr val="CBD5E1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75488" y="320040"/>
            <a:ext cx="1847088" cy="329184"/>
          </a:xfrm>
          <a:prstGeom prst="roundRect">
            <a:avLst>
              <a:gd name="adj" fmla="val 55556"/>
            </a:avLst>
          </a:prstGeom>
          <a:solidFill>
            <a:srgbClr val="EFF6FF"/>
          </a:solidFill>
          <a:ln w="9525">
            <a:solidFill>
              <a:srgbClr val="93C5F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75488" y="320040"/>
            <a:ext cx="184708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80" b="1" dirty="0">
                <a:solidFill>
                  <a:srgbClr val="1D4E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T53 • SECTION 01 OF 04</a:t>
            </a:r>
            <a:endParaRPr lang="en-US" sz="880" dirty="0"/>
          </a:p>
        </p:txBody>
      </p:sp>
      <p:sp>
        <p:nvSpPr>
          <p:cNvPr id="5" name="Text 3"/>
          <p:cNvSpPr/>
          <p:nvPr/>
        </p:nvSpPr>
        <p:spPr>
          <a:xfrm>
            <a:off x="2450592" y="219456"/>
            <a:ext cx="68580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8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Context + Harness + Loop + Graph</a:t>
            </a:r>
            <a:endParaRPr lang="en-US" sz="1380" dirty="0"/>
          </a:p>
        </p:txBody>
      </p:sp>
      <p:sp>
        <p:nvSpPr>
          <p:cNvPr id="6" name="Shape 4"/>
          <p:cNvSpPr/>
          <p:nvPr/>
        </p:nvSpPr>
        <p:spPr>
          <a:xfrm>
            <a:off x="9436608" y="320040"/>
            <a:ext cx="2267712" cy="329184"/>
          </a:xfrm>
          <a:prstGeom prst="roundRect">
            <a:avLst>
              <a:gd name="adj" fmla="val 55556"/>
            </a:avLst>
          </a:prstGeom>
          <a:solidFill>
            <a:srgbClr val="ECFDF5"/>
          </a:solidFill>
          <a:ln w="9525">
            <a:solidFill>
              <a:srgbClr val="6EE7B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436608" y="320040"/>
            <a:ext cx="226771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80" b="1" dirty="0">
                <a:solidFill>
                  <a:srgbClr val="065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100% Native Editable Shapes</a:t>
            </a:r>
            <a:endParaRPr lang="en-US" sz="880" dirty="0"/>
          </a:p>
        </p:txBody>
      </p:sp>
      <p:sp>
        <p:nvSpPr>
          <p:cNvPr id="8" name="Shape 6"/>
          <p:cNvSpPr/>
          <p:nvPr/>
        </p:nvSpPr>
        <p:spPr>
          <a:xfrm>
            <a:off x="1052474" y="1186891"/>
            <a:ext cx="10619842" cy="5068519"/>
          </a:xfrm>
          <a:prstGeom prst="roundRect">
            <a:avLst>
              <a:gd name="adj" fmla="val 902"/>
            </a:avLst>
          </a:prstGeom>
          <a:solidFill>
            <a:srgbClr val="FFFFFF"/>
          </a:solidFill>
          <a:ln w="14288">
            <a:solidFill>
              <a:srgbClr val="CBD5E1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285025" y="2241194"/>
            <a:ext cx="4131259" cy="2609698"/>
          </a:xfrm>
          <a:prstGeom prst="roundRect">
            <a:avLst>
              <a:gd name="adj" fmla="val 1752"/>
            </a:avLst>
          </a:prstGeom>
          <a:solidFill>
            <a:srgbClr val="EFF6FF"/>
          </a:solidFill>
          <a:ln w="14288">
            <a:solidFill>
              <a:srgbClr val="93C5FD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309421" y="2241194"/>
            <a:ext cx="3874313" cy="2609698"/>
          </a:xfrm>
          <a:prstGeom prst="roundRect">
            <a:avLst>
              <a:gd name="adj" fmla="val 1752"/>
            </a:avLst>
          </a:prstGeom>
          <a:solidFill>
            <a:srgbClr val="FFFBEB"/>
          </a:solidFill>
          <a:ln w="14288">
            <a:solidFill>
              <a:srgbClr val="F59E0B"/>
            </a:solidFill>
            <a:prstDash val="dash"/>
          </a:ln>
        </p:spPr>
      </p:sp>
      <p:sp>
        <p:nvSpPr>
          <p:cNvPr id="11" name="Shape 9"/>
          <p:cNvSpPr/>
          <p:nvPr/>
        </p:nvSpPr>
        <p:spPr>
          <a:xfrm>
            <a:off x="1309421" y="5051146"/>
            <a:ext cx="10106863" cy="903427"/>
          </a:xfrm>
          <a:prstGeom prst="roundRect">
            <a:avLst>
              <a:gd name="adj" fmla="val 5061"/>
            </a:avLst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449324" y="5051146"/>
            <a:ext cx="1260043" cy="90342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7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PROMPT</a:t>
            </a:r>
            <a:endParaRPr lang="en-US" sz="1170" dirty="0"/>
          </a:p>
        </p:txBody>
      </p:sp>
      <p:sp>
        <p:nvSpPr>
          <p:cNvPr id="13" name="Text 11"/>
          <p:cNvSpPr/>
          <p:nvPr/>
        </p:nvSpPr>
        <p:spPr>
          <a:xfrm>
            <a:off x="2709367" y="5051146"/>
            <a:ext cx="8217713" cy="90342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6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List the files and tool results you are using for this job. If anything is missing, name it and ask before assuming what it says.</a:t>
            </a:r>
            <a:endParaRPr lang="en-US" sz="1260" dirty="0"/>
          </a:p>
        </p:txBody>
      </p:sp>
      <p:sp>
        <p:nvSpPr>
          <p:cNvPr id="14" name="Shape 12"/>
          <p:cNvSpPr/>
          <p:nvPr/>
        </p:nvSpPr>
        <p:spPr>
          <a:xfrm>
            <a:off x="11020349" y="5374843"/>
            <a:ext cx="256032" cy="256032"/>
          </a:xfrm>
          <a:prstGeom prst="ellipse">
            <a:avLst/>
          </a:prstGeom>
          <a:solidFill>
            <a:srgbClr val="0F172A"/>
          </a:solidFill>
          <a:ln/>
        </p:spPr>
      </p:sp>
      <p:sp>
        <p:nvSpPr>
          <p:cNvPr id="15" name="Text 13"/>
          <p:cNvSpPr/>
          <p:nvPr/>
        </p:nvSpPr>
        <p:spPr>
          <a:xfrm>
            <a:off x="11020349" y="5374843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↑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1309421" y="1388059"/>
            <a:ext cx="8540496" cy="7022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Context   </a:t>
            </a:r>
            <a:pPr indent="0" marL="0">
              <a:buNone/>
            </a:pPr>
            <a:r>
              <a:rPr lang="en-US" sz="1260" b="1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information loaded for the model's current answer.</a:t>
            </a:r>
            <a:endParaRPr lang="en-US" sz="2000" dirty="0"/>
          </a:p>
        </p:txBody>
      </p:sp>
      <p:sp>
        <p:nvSpPr>
          <p:cNvPr id="17" name="Shape 15"/>
          <p:cNvSpPr/>
          <p:nvPr/>
        </p:nvSpPr>
        <p:spPr>
          <a:xfrm>
            <a:off x="9945929" y="1583741"/>
            <a:ext cx="1470355" cy="310896"/>
          </a:xfrm>
          <a:prstGeom prst="roundRect">
            <a:avLst>
              <a:gd name="adj" fmla="val 58824"/>
            </a:avLst>
          </a:prstGeom>
          <a:solidFill>
            <a:srgbClr val="ECFDF5"/>
          </a:solidFill>
          <a:ln w="10795">
            <a:solidFill>
              <a:srgbClr val="6EE7B7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0016338" y="1583741"/>
            <a:ext cx="13304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70" b="1" dirty="0">
                <a:solidFill>
                  <a:srgbClr val="065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VERIFIED PROOF</a:t>
            </a:r>
            <a:endParaRPr lang="en-US" sz="1070" dirty="0"/>
          </a:p>
        </p:txBody>
      </p:sp>
      <p:sp>
        <p:nvSpPr>
          <p:cNvPr id="19" name="Shape 17"/>
          <p:cNvSpPr/>
          <p:nvPr/>
        </p:nvSpPr>
        <p:spPr>
          <a:xfrm>
            <a:off x="7424928" y="2843784"/>
            <a:ext cx="3851453" cy="627278"/>
          </a:xfrm>
          <a:prstGeom prst="roundRect">
            <a:avLst>
              <a:gd name="adj" fmla="val 7289"/>
            </a:avLst>
          </a:prstGeom>
          <a:solidFill>
            <a:srgbClr val="FFFFFF"/>
          </a:solidFill>
          <a:ln w="11430">
            <a:solidFill>
              <a:srgbClr val="BFDBFE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424928" y="2843784"/>
            <a:ext cx="3851453" cy="6272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1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Files and results being used</a:t>
            </a:r>
            <a:endParaRPr lang="en-US" sz="1310" dirty="0"/>
          </a:p>
        </p:txBody>
      </p:sp>
      <p:sp>
        <p:nvSpPr>
          <p:cNvPr id="21" name="Shape 19"/>
          <p:cNvSpPr/>
          <p:nvPr/>
        </p:nvSpPr>
        <p:spPr>
          <a:xfrm>
            <a:off x="7424928" y="3570732"/>
            <a:ext cx="3851453" cy="627278"/>
          </a:xfrm>
          <a:prstGeom prst="roundRect">
            <a:avLst>
              <a:gd name="adj" fmla="val 7289"/>
            </a:avLst>
          </a:prstGeom>
          <a:solidFill>
            <a:srgbClr val="FFFFFF"/>
          </a:solidFill>
          <a:ln w="11430">
            <a:solidFill>
              <a:srgbClr val="BFDBFE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424928" y="3570732"/>
            <a:ext cx="3851453" cy="6272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1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Missing inputs to name</a:t>
            </a:r>
            <a:endParaRPr lang="en-US" sz="1310" dirty="0"/>
          </a:p>
        </p:txBody>
      </p:sp>
      <p:sp>
        <p:nvSpPr>
          <p:cNvPr id="23" name="Shape 21"/>
          <p:cNvSpPr/>
          <p:nvPr/>
        </p:nvSpPr>
        <p:spPr>
          <a:xfrm>
            <a:off x="1449324" y="2868473"/>
            <a:ext cx="3594506" cy="651967"/>
          </a:xfrm>
          <a:prstGeom prst="roundRect">
            <a:avLst>
              <a:gd name="adj" fmla="val 7013"/>
            </a:avLst>
          </a:prstGeom>
          <a:solidFill>
            <a:srgbClr val="FEF3C7"/>
          </a:solidFill>
          <a:ln w="11430">
            <a:solidFill>
              <a:srgbClr val="FCD34D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1589227" y="2868473"/>
            <a:ext cx="2012594" cy="6519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9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Your prompt</a:t>
            </a:r>
            <a:endParaRPr lang="en-US" sz="1290" dirty="0"/>
          </a:p>
        </p:txBody>
      </p:sp>
      <p:sp>
        <p:nvSpPr>
          <p:cNvPr id="25" name="Text 23"/>
          <p:cNvSpPr/>
          <p:nvPr/>
        </p:nvSpPr>
        <p:spPr>
          <a:xfrm>
            <a:off x="3171139" y="2868473"/>
            <a:ext cx="1732788" cy="6519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20" b="1" dirty="0">
                <a:solidFill>
                  <a:srgbClr val="78350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current request</a:t>
            </a:r>
            <a:endParaRPr lang="en-US" sz="1220" dirty="0"/>
          </a:p>
        </p:txBody>
      </p:sp>
      <p:sp>
        <p:nvSpPr>
          <p:cNvPr id="26" name="Text 24"/>
          <p:cNvSpPr/>
          <p:nvPr/>
        </p:nvSpPr>
        <p:spPr>
          <a:xfrm>
            <a:off x="7424928" y="4273906"/>
            <a:ext cx="3851453" cy="4517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7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Ask before filling in the gaps</a:t>
            </a:r>
            <a:endParaRPr lang="en-US" sz="1370" dirty="0"/>
          </a:p>
        </p:txBody>
      </p:sp>
      <p:sp>
        <p:nvSpPr>
          <p:cNvPr id="27" name="Text 25"/>
          <p:cNvSpPr/>
          <p:nvPr/>
        </p:nvSpPr>
        <p:spPr>
          <a:xfrm>
            <a:off x="1449324" y="4348886"/>
            <a:ext cx="3594506" cy="40142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1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More can be retrieved when needed</a:t>
            </a:r>
            <a:endParaRPr lang="en-US" sz="1310" dirty="0"/>
          </a:p>
        </p:txBody>
      </p:sp>
      <p:sp>
        <p:nvSpPr>
          <p:cNvPr id="28" name="Text 26"/>
          <p:cNvSpPr/>
          <p:nvPr/>
        </p:nvSpPr>
        <p:spPr>
          <a:xfrm>
            <a:off x="7424928" y="2341778"/>
            <a:ext cx="3033979" cy="4517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1D4E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THE PROMPT ASKS FOR</a:t>
            </a:r>
            <a:endParaRPr lang="en-US" sz="1250" dirty="0"/>
          </a:p>
        </p:txBody>
      </p:sp>
      <p:sp>
        <p:nvSpPr>
          <p:cNvPr id="29" name="Text 27"/>
          <p:cNvSpPr/>
          <p:nvPr/>
        </p:nvSpPr>
        <p:spPr>
          <a:xfrm>
            <a:off x="1449324" y="2341778"/>
            <a:ext cx="2800807" cy="4517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924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LOADED CONTEXT</a:t>
            </a:r>
            <a:endParaRPr lang="en-US" sz="1250" dirty="0"/>
          </a:p>
        </p:txBody>
      </p:sp>
      <p:sp>
        <p:nvSpPr>
          <p:cNvPr id="30" name="Shape 28"/>
          <p:cNvSpPr/>
          <p:nvPr/>
        </p:nvSpPr>
        <p:spPr>
          <a:xfrm>
            <a:off x="1449324" y="3646627"/>
            <a:ext cx="1750162" cy="651967"/>
          </a:xfrm>
          <a:prstGeom prst="roundRect">
            <a:avLst>
              <a:gd name="adj" fmla="val 7013"/>
            </a:avLst>
          </a:prstGeom>
          <a:solidFill>
            <a:srgbClr val="FEF3C7"/>
          </a:solidFill>
          <a:ln w="11430">
            <a:solidFill>
              <a:srgbClr val="FCD34D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1449324" y="3646627"/>
            <a:ext cx="1750162" cy="6519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1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Files + chat</a:t>
            </a:r>
            <a:endParaRPr lang="en-US" sz="1310" dirty="0"/>
          </a:p>
        </p:txBody>
      </p:sp>
      <p:sp>
        <p:nvSpPr>
          <p:cNvPr id="32" name="Shape 30"/>
          <p:cNvSpPr/>
          <p:nvPr/>
        </p:nvSpPr>
        <p:spPr>
          <a:xfrm>
            <a:off x="3293669" y="3646627"/>
            <a:ext cx="1750162" cy="651967"/>
          </a:xfrm>
          <a:prstGeom prst="roundRect">
            <a:avLst>
              <a:gd name="adj" fmla="val 7013"/>
            </a:avLst>
          </a:prstGeom>
          <a:solidFill>
            <a:srgbClr val="F3E8FF"/>
          </a:solidFill>
          <a:ln w="11430">
            <a:solidFill>
              <a:srgbClr val="D8B4FE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293669" y="3646627"/>
            <a:ext cx="1750162" cy="6519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1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Tool results</a:t>
            </a:r>
            <a:endParaRPr lang="en-US" sz="1310" dirty="0"/>
          </a:p>
        </p:txBody>
      </p:sp>
      <p:sp>
        <p:nvSpPr>
          <p:cNvPr id="34" name="Shape 32"/>
          <p:cNvSpPr/>
          <p:nvPr/>
        </p:nvSpPr>
        <p:spPr>
          <a:xfrm>
            <a:off x="6070702" y="2868473"/>
            <a:ext cx="630022" cy="630022"/>
          </a:xfrm>
          <a:prstGeom prst="ellipse">
            <a:avLst/>
          </a:prstGeom>
          <a:solidFill>
            <a:srgbClr val="FFFFFF"/>
          </a:solidFill>
          <a:ln w="14288">
            <a:solidFill>
              <a:srgbClr val="CBD5E1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6221578" y="3019349"/>
            <a:ext cx="327355" cy="327355"/>
          </a:xfrm>
          <a:prstGeom prst="ellipse">
            <a:avLst/>
          </a:prstGeom>
          <a:solidFill>
            <a:srgbClr val="EFF6FF"/>
          </a:solidFill>
          <a:ln w="19050">
            <a:solidFill>
              <a:srgbClr val="2563EB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6328562" y="3126334"/>
            <a:ext cx="113386" cy="113386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37" name="Text 35"/>
          <p:cNvSpPr/>
          <p:nvPr/>
        </p:nvSpPr>
        <p:spPr>
          <a:xfrm>
            <a:off x="5861304" y="4273906"/>
            <a:ext cx="1050646" cy="4517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7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model</a:t>
            </a:r>
            <a:endParaRPr lang="en-US" sz="1370" dirty="0"/>
          </a:p>
        </p:txBody>
      </p:sp>
      <p:sp>
        <p:nvSpPr>
          <p:cNvPr id="38" name="Shape 36"/>
          <p:cNvSpPr/>
          <p:nvPr/>
        </p:nvSpPr>
        <p:spPr>
          <a:xfrm>
            <a:off x="422453" y="1388059"/>
            <a:ext cx="443484" cy="326441"/>
          </a:xfrm>
          <a:prstGeom prst="roundRect">
            <a:avLst>
              <a:gd name="adj" fmla="val 14006"/>
            </a:avLst>
          </a:prstGeom>
          <a:solidFill>
            <a:srgbClr val="FEF3C7"/>
          </a:solidFill>
          <a:ln w="14288">
            <a:solidFill>
              <a:srgbClr val="F59E0B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22453" y="1388059"/>
            <a:ext cx="443484" cy="32644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30" b="1" dirty="0">
                <a:solidFill>
                  <a:srgbClr val="B4530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430" dirty="0"/>
          </a:p>
        </p:txBody>
      </p:sp>
      <p:sp>
        <p:nvSpPr>
          <p:cNvPr id="40" name="Shape 38"/>
          <p:cNvSpPr/>
          <p:nvPr/>
        </p:nvSpPr>
        <p:spPr>
          <a:xfrm>
            <a:off x="5183734" y="3546043"/>
            <a:ext cx="886968" cy="914"/>
          </a:xfrm>
          <a:prstGeom prst="line">
            <a:avLst/>
          </a:prstGeom>
          <a:noFill/>
          <a:ln w="16256">
            <a:solidFill>
              <a:srgbClr val="64748B"/>
            </a:solidFill>
            <a:prstDash val="solid"/>
            <a:tailEnd type="triangle" w="sm" len="sm"/>
          </a:ln>
        </p:spPr>
      </p:sp>
      <p:sp>
        <p:nvSpPr>
          <p:cNvPr id="41" name="Shape 39"/>
          <p:cNvSpPr/>
          <p:nvPr/>
        </p:nvSpPr>
        <p:spPr>
          <a:xfrm>
            <a:off x="5289804" y="3386023"/>
            <a:ext cx="560527" cy="21945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/>
        </p:spPr>
      </p:sp>
      <p:sp>
        <p:nvSpPr>
          <p:cNvPr id="42" name="Text 40"/>
          <p:cNvSpPr/>
          <p:nvPr/>
        </p:nvSpPr>
        <p:spPr>
          <a:xfrm>
            <a:off x="5289804" y="3386023"/>
            <a:ext cx="560527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70" b="1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uses</a:t>
            </a:r>
            <a:endParaRPr lang="en-US" sz="1170" dirty="0"/>
          </a:p>
        </p:txBody>
      </p:sp>
      <p:sp>
        <p:nvSpPr>
          <p:cNvPr id="43" name="Shape 41"/>
          <p:cNvSpPr/>
          <p:nvPr/>
        </p:nvSpPr>
        <p:spPr>
          <a:xfrm>
            <a:off x="6701638" y="3546043"/>
            <a:ext cx="583387" cy="914"/>
          </a:xfrm>
          <a:prstGeom prst="line">
            <a:avLst/>
          </a:prstGeom>
          <a:noFill/>
          <a:ln w="16256">
            <a:solidFill>
              <a:srgbClr val="64748B"/>
            </a:solidFill>
            <a:prstDash val="solid"/>
            <a:tailEnd type="triangle" w="sm" len="sm"/>
          </a:ln>
        </p:spPr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9184" y="219456"/>
            <a:ext cx="11530584" cy="530352"/>
          </a:xfrm>
          <a:prstGeom prst="roundRect">
            <a:avLst>
              <a:gd name="adj" fmla="val 6897"/>
            </a:avLst>
          </a:prstGeom>
          <a:solidFill>
            <a:srgbClr val="FFFFFF"/>
          </a:solidFill>
          <a:ln w="10795">
            <a:solidFill>
              <a:srgbClr val="CBD5E1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75488" y="320040"/>
            <a:ext cx="1847088" cy="329184"/>
          </a:xfrm>
          <a:prstGeom prst="roundRect">
            <a:avLst>
              <a:gd name="adj" fmla="val 55556"/>
            </a:avLst>
          </a:prstGeom>
          <a:solidFill>
            <a:srgbClr val="EFF6FF"/>
          </a:solidFill>
          <a:ln w="9525">
            <a:solidFill>
              <a:srgbClr val="93C5F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75488" y="320040"/>
            <a:ext cx="184708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80" b="1" dirty="0">
                <a:solidFill>
                  <a:srgbClr val="1D4E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T53 • SECTION 02 OF 04</a:t>
            </a:r>
            <a:endParaRPr lang="en-US" sz="880" dirty="0"/>
          </a:p>
        </p:txBody>
      </p:sp>
      <p:sp>
        <p:nvSpPr>
          <p:cNvPr id="5" name="Text 3"/>
          <p:cNvSpPr/>
          <p:nvPr/>
        </p:nvSpPr>
        <p:spPr>
          <a:xfrm>
            <a:off x="2450592" y="219456"/>
            <a:ext cx="68580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8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Context + Harness + Loop + Graph</a:t>
            </a:r>
            <a:endParaRPr lang="en-US" sz="1380" dirty="0"/>
          </a:p>
        </p:txBody>
      </p:sp>
      <p:sp>
        <p:nvSpPr>
          <p:cNvPr id="6" name="Shape 4"/>
          <p:cNvSpPr/>
          <p:nvPr/>
        </p:nvSpPr>
        <p:spPr>
          <a:xfrm>
            <a:off x="9436608" y="320040"/>
            <a:ext cx="2267712" cy="329184"/>
          </a:xfrm>
          <a:prstGeom prst="roundRect">
            <a:avLst>
              <a:gd name="adj" fmla="val 55556"/>
            </a:avLst>
          </a:prstGeom>
          <a:solidFill>
            <a:srgbClr val="ECFDF5"/>
          </a:solidFill>
          <a:ln w="9525">
            <a:solidFill>
              <a:srgbClr val="6EE7B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436608" y="320040"/>
            <a:ext cx="226771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80" b="1" dirty="0">
                <a:solidFill>
                  <a:srgbClr val="065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100% Native Editable Shapes</a:t>
            </a:r>
            <a:endParaRPr lang="en-US" sz="880" dirty="0"/>
          </a:p>
        </p:txBody>
      </p:sp>
      <p:sp>
        <p:nvSpPr>
          <p:cNvPr id="8" name="Shape 6"/>
          <p:cNvSpPr/>
          <p:nvPr/>
        </p:nvSpPr>
        <p:spPr>
          <a:xfrm>
            <a:off x="1052474" y="1137514"/>
            <a:ext cx="10619842" cy="5169103"/>
          </a:xfrm>
          <a:prstGeom prst="roundRect">
            <a:avLst>
              <a:gd name="adj" fmla="val 884"/>
            </a:avLst>
          </a:prstGeom>
          <a:solidFill>
            <a:srgbClr val="FFFFFF"/>
          </a:solidFill>
          <a:ln w="14288">
            <a:solidFill>
              <a:srgbClr val="CBD5E1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309421" y="2190902"/>
            <a:ext cx="10106863" cy="2710282"/>
          </a:xfrm>
          <a:prstGeom prst="roundRect">
            <a:avLst>
              <a:gd name="adj" fmla="val 1687"/>
            </a:avLst>
          </a:prstGeom>
          <a:solidFill>
            <a:srgbClr val="FAF5FF"/>
          </a:solidFill>
          <a:ln w="14288">
            <a:solidFill>
              <a:srgbClr val="D8B4FE"/>
            </a:solidFill>
            <a:prstDash val="dash"/>
          </a:ln>
        </p:spPr>
      </p:sp>
      <p:sp>
        <p:nvSpPr>
          <p:cNvPr id="10" name="Shape 8"/>
          <p:cNvSpPr/>
          <p:nvPr/>
        </p:nvSpPr>
        <p:spPr>
          <a:xfrm>
            <a:off x="1309421" y="5101438"/>
            <a:ext cx="10106863" cy="903427"/>
          </a:xfrm>
          <a:prstGeom prst="roundRect">
            <a:avLst>
              <a:gd name="adj" fmla="val 5061"/>
            </a:avLst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449324" y="5101438"/>
            <a:ext cx="1260043" cy="90342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7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PROMPT</a:t>
            </a:r>
            <a:endParaRPr lang="en-US" sz="1170" dirty="0"/>
          </a:p>
        </p:txBody>
      </p:sp>
      <p:sp>
        <p:nvSpPr>
          <p:cNvPr id="12" name="Text 10"/>
          <p:cNvSpPr/>
          <p:nvPr/>
        </p:nvSpPr>
        <p:spPr>
          <a:xfrm>
            <a:off x="2709367" y="5101438"/>
            <a:ext cx="8217713" cy="90342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6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Read AGENTS.md and GEMINI.md. Use the connected tools and skills needed for this job. Flag any conflicting rules before you start work.</a:t>
            </a:r>
            <a:endParaRPr lang="en-US" sz="1260" dirty="0"/>
          </a:p>
        </p:txBody>
      </p:sp>
      <p:sp>
        <p:nvSpPr>
          <p:cNvPr id="13" name="Shape 11"/>
          <p:cNvSpPr/>
          <p:nvPr/>
        </p:nvSpPr>
        <p:spPr>
          <a:xfrm>
            <a:off x="11020349" y="5425135"/>
            <a:ext cx="256032" cy="256032"/>
          </a:xfrm>
          <a:prstGeom prst="ellipse">
            <a:avLst/>
          </a:prstGeom>
          <a:solidFill>
            <a:srgbClr val="0F172A"/>
          </a:solidFill>
          <a:ln/>
        </p:spPr>
      </p:sp>
      <p:sp>
        <p:nvSpPr>
          <p:cNvPr id="14" name="Text 12"/>
          <p:cNvSpPr/>
          <p:nvPr/>
        </p:nvSpPr>
        <p:spPr>
          <a:xfrm>
            <a:off x="11020349" y="5425135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↑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1309421" y="1337767"/>
            <a:ext cx="8540496" cy="7022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933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Harness   </a:t>
            </a:r>
            <a:pPr indent="0" marL="0">
              <a:buNone/>
            </a:pPr>
            <a:r>
              <a:rPr lang="en-US" sz="1260" b="1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system that gives the model instructions, tools and control.</a:t>
            </a:r>
            <a:endParaRPr lang="en-US" sz="2000" dirty="0"/>
          </a:p>
        </p:txBody>
      </p:sp>
      <p:sp>
        <p:nvSpPr>
          <p:cNvPr id="16" name="Shape 14"/>
          <p:cNvSpPr/>
          <p:nvPr/>
        </p:nvSpPr>
        <p:spPr>
          <a:xfrm>
            <a:off x="9945929" y="1533449"/>
            <a:ext cx="1470355" cy="310896"/>
          </a:xfrm>
          <a:prstGeom prst="roundRect">
            <a:avLst>
              <a:gd name="adj" fmla="val 58824"/>
            </a:avLst>
          </a:prstGeom>
          <a:solidFill>
            <a:srgbClr val="ECFDF5"/>
          </a:solidFill>
          <a:ln w="10795">
            <a:solidFill>
              <a:srgbClr val="6EE7B7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0016338" y="1533449"/>
            <a:ext cx="13304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70" b="1" dirty="0">
                <a:solidFill>
                  <a:srgbClr val="065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VERIFIED PROOF</a:t>
            </a:r>
            <a:endParaRPr lang="en-US" sz="1070" dirty="0"/>
          </a:p>
        </p:txBody>
      </p:sp>
      <p:sp>
        <p:nvSpPr>
          <p:cNvPr id="18" name="Shape 16"/>
          <p:cNvSpPr/>
          <p:nvPr/>
        </p:nvSpPr>
        <p:spPr>
          <a:xfrm>
            <a:off x="6258154" y="2843784"/>
            <a:ext cx="2450592" cy="1405433"/>
          </a:xfrm>
          <a:prstGeom prst="roundRect">
            <a:avLst>
              <a:gd name="adj" fmla="val 3253"/>
            </a:avLst>
          </a:prstGeom>
          <a:solidFill>
            <a:srgbClr val="F3E8FF"/>
          </a:solidFill>
          <a:ln w="14288">
            <a:solidFill>
              <a:srgbClr val="C084FC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258154" y="2843784"/>
            <a:ext cx="2450592" cy="14054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1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CONNECTED TOOLS Files · apps · commands</a:t>
            </a:r>
            <a:endParaRPr lang="en-US" sz="1310" dirty="0"/>
          </a:p>
        </p:txBody>
      </p:sp>
      <p:sp>
        <p:nvSpPr>
          <p:cNvPr id="20" name="Shape 18"/>
          <p:cNvSpPr/>
          <p:nvPr/>
        </p:nvSpPr>
        <p:spPr>
          <a:xfrm>
            <a:off x="9105595" y="2843784"/>
            <a:ext cx="2147011" cy="1405433"/>
          </a:xfrm>
          <a:prstGeom prst="roundRect">
            <a:avLst>
              <a:gd name="adj" fmla="val 3253"/>
            </a:avLst>
          </a:prstGeom>
          <a:solidFill>
            <a:srgbClr val="FFFFFF"/>
          </a:solidFill>
          <a:ln w="14288">
            <a:solidFill>
              <a:srgbClr val="CBD5E1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105595" y="2843784"/>
            <a:ext cx="2147011" cy="14054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1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YOUR CHECKS What counts as done</a:t>
            </a:r>
            <a:endParaRPr lang="en-US" sz="1310" dirty="0"/>
          </a:p>
        </p:txBody>
      </p:sp>
      <p:sp>
        <p:nvSpPr>
          <p:cNvPr id="22" name="Shape 20"/>
          <p:cNvSpPr/>
          <p:nvPr/>
        </p:nvSpPr>
        <p:spPr>
          <a:xfrm>
            <a:off x="1449324" y="2793492"/>
            <a:ext cx="2614270" cy="702259"/>
          </a:xfrm>
          <a:prstGeom prst="roundRect">
            <a:avLst>
              <a:gd name="adj" fmla="val 6510"/>
            </a:avLst>
          </a:prstGeom>
          <a:solidFill>
            <a:srgbClr val="F3E8FF"/>
          </a:solidFill>
          <a:ln w="14288">
            <a:solidFill>
              <a:srgbClr val="C084FC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589227" y="2793492"/>
            <a:ext cx="1463954" cy="7022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9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AGENTS.md / GEMINI.md</a:t>
            </a:r>
            <a:endParaRPr lang="en-US" sz="1290" dirty="0"/>
          </a:p>
        </p:txBody>
      </p:sp>
      <p:sp>
        <p:nvSpPr>
          <p:cNvPr id="24" name="Text 22"/>
          <p:cNvSpPr/>
          <p:nvPr/>
        </p:nvSpPr>
        <p:spPr>
          <a:xfrm>
            <a:off x="2739542" y="2793492"/>
            <a:ext cx="1184148" cy="7022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20" b="1" dirty="0">
                <a:solidFill>
                  <a:srgbClr val="6B21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rules</a:t>
            </a:r>
            <a:endParaRPr lang="en-US" sz="1220" dirty="0"/>
          </a:p>
        </p:txBody>
      </p:sp>
      <p:sp>
        <p:nvSpPr>
          <p:cNvPr id="25" name="Shape 23"/>
          <p:cNvSpPr/>
          <p:nvPr/>
        </p:nvSpPr>
        <p:spPr>
          <a:xfrm>
            <a:off x="1449324" y="3696919"/>
            <a:ext cx="2614270" cy="702259"/>
          </a:xfrm>
          <a:prstGeom prst="roundRect">
            <a:avLst>
              <a:gd name="adj" fmla="val 6510"/>
            </a:avLst>
          </a:prstGeom>
          <a:solidFill>
            <a:srgbClr val="F3E8FF"/>
          </a:solidFill>
          <a:ln w="14288">
            <a:solidFill>
              <a:srgbClr val="C084FC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1589227" y="3696919"/>
            <a:ext cx="1463954" cy="7022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9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Skills</a:t>
            </a:r>
            <a:endParaRPr lang="en-US" sz="1290" dirty="0"/>
          </a:p>
        </p:txBody>
      </p:sp>
      <p:sp>
        <p:nvSpPr>
          <p:cNvPr id="27" name="Text 25"/>
          <p:cNvSpPr/>
          <p:nvPr/>
        </p:nvSpPr>
        <p:spPr>
          <a:xfrm>
            <a:off x="2739542" y="3696919"/>
            <a:ext cx="1184148" cy="7022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20" b="1" dirty="0">
                <a:solidFill>
                  <a:srgbClr val="6B21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repeatable jobs</a:t>
            </a:r>
            <a:endParaRPr lang="en-US" sz="1220" dirty="0"/>
          </a:p>
        </p:txBody>
      </p:sp>
      <p:sp>
        <p:nvSpPr>
          <p:cNvPr id="28" name="Text 26"/>
          <p:cNvSpPr/>
          <p:nvPr/>
        </p:nvSpPr>
        <p:spPr>
          <a:xfrm>
            <a:off x="1449324" y="2291486"/>
            <a:ext cx="3033979" cy="4517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90" b="1" dirty="0">
                <a:solidFill>
                  <a:srgbClr val="6B21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HARNESS: THE SYSTEM AROUND THE MODEL</a:t>
            </a:r>
            <a:endParaRPr lang="en-US" sz="1190" dirty="0"/>
          </a:p>
        </p:txBody>
      </p:sp>
      <p:sp>
        <p:nvSpPr>
          <p:cNvPr id="29" name="Shape 27"/>
          <p:cNvSpPr/>
          <p:nvPr/>
        </p:nvSpPr>
        <p:spPr>
          <a:xfrm>
            <a:off x="4624121" y="2843784"/>
            <a:ext cx="653796" cy="653796"/>
          </a:xfrm>
          <a:prstGeom prst="ellipse">
            <a:avLst/>
          </a:prstGeom>
          <a:solidFill>
            <a:srgbClr val="FFFFFF"/>
          </a:solidFill>
          <a:ln w="14288">
            <a:solidFill>
              <a:srgbClr val="CBD5E1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4781398" y="3001061"/>
            <a:ext cx="340157" cy="340157"/>
          </a:xfrm>
          <a:prstGeom prst="ellipse">
            <a:avLst/>
          </a:prstGeom>
          <a:solidFill>
            <a:srgbClr val="EFF6FF"/>
          </a:solidFill>
          <a:ln w="19050">
            <a:solidFill>
              <a:srgbClr val="2563EB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4892040" y="3111703"/>
            <a:ext cx="117958" cy="117958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32" name="Text 30"/>
          <p:cNvSpPr/>
          <p:nvPr/>
        </p:nvSpPr>
        <p:spPr>
          <a:xfrm>
            <a:off x="4425696" y="2316175"/>
            <a:ext cx="1050646" cy="45171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37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model</a:t>
            </a:r>
            <a:endParaRPr lang="en-US" sz="1370" dirty="0"/>
          </a:p>
        </p:txBody>
      </p:sp>
      <p:sp>
        <p:nvSpPr>
          <p:cNvPr id="33" name="Shape 31"/>
          <p:cNvSpPr/>
          <p:nvPr/>
        </p:nvSpPr>
        <p:spPr>
          <a:xfrm>
            <a:off x="422453" y="1337767"/>
            <a:ext cx="443484" cy="326441"/>
          </a:xfrm>
          <a:prstGeom prst="roundRect">
            <a:avLst>
              <a:gd name="adj" fmla="val 14006"/>
            </a:avLst>
          </a:prstGeom>
          <a:solidFill>
            <a:srgbClr val="F3E8FF"/>
          </a:solidFill>
          <a:ln w="14288">
            <a:solidFill>
              <a:srgbClr val="A855F7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22453" y="1337767"/>
            <a:ext cx="443484" cy="32644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30" b="1" dirty="0">
                <a:solidFill>
                  <a:srgbClr val="7E22C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430" dirty="0"/>
          </a:p>
        </p:txBody>
      </p:sp>
      <p:sp>
        <p:nvSpPr>
          <p:cNvPr id="35" name="Shape 33"/>
          <p:cNvSpPr/>
          <p:nvPr/>
        </p:nvSpPr>
        <p:spPr>
          <a:xfrm>
            <a:off x="4063594" y="3144622"/>
            <a:ext cx="560527" cy="401422"/>
          </a:xfrm>
          <a:prstGeom prst="line">
            <a:avLst/>
          </a:prstGeom>
          <a:noFill/>
          <a:ln w="16256">
            <a:solidFill>
              <a:srgbClr val="64748B"/>
            </a:solidFill>
            <a:prstDash val="solid"/>
            <a:tailEnd type="triangle" w="sm" len="sm"/>
          </a:ln>
        </p:spPr>
      </p:sp>
      <p:sp>
        <p:nvSpPr>
          <p:cNvPr id="36" name="Shape 34"/>
          <p:cNvSpPr/>
          <p:nvPr/>
        </p:nvSpPr>
        <p:spPr>
          <a:xfrm flipV="1">
            <a:off x="4063594" y="3546043"/>
            <a:ext cx="560527" cy="502006"/>
          </a:xfrm>
          <a:prstGeom prst="line">
            <a:avLst/>
          </a:prstGeom>
          <a:noFill/>
          <a:ln w="16256">
            <a:solidFill>
              <a:srgbClr val="64748B"/>
            </a:solidFill>
            <a:prstDash val="solid"/>
            <a:tailEnd type="triangle" w="sm" len="sm"/>
          </a:ln>
        </p:spPr>
      </p:sp>
      <p:sp>
        <p:nvSpPr>
          <p:cNvPr id="37" name="Shape 35"/>
          <p:cNvSpPr/>
          <p:nvPr/>
        </p:nvSpPr>
        <p:spPr>
          <a:xfrm>
            <a:off x="5277917" y="3546043"/>
            <a:ext cx="980237" cy="914"/>
          </a:xfrm>
          <a:prstGeom prst="line">
            <a:avLst/>
          </a:prstGeom>
          <a:noFill/>
          <a:ln w="16256">
            <a:solidFill>
              <a:srgbClr val="64748B"/>
            </a:solidFill>
            <a:prstDash val="solid"/>
            <a:tailEnd type="triangle" w="sm" len="sm"/>
          </a:ln>
        </p:spPr>
      </p:sp>
      <p:sp>
        <p:nvSpPr>
          <p:cNvPr id="38" name="Shape 36"/>
          <p:cNvSpPr/>
          <p:nvPr/>
        </p:nvSpPr>
        <p:spPr>
          <a:xfrm>
            <a:off x="5429707" y="3386023"/>
            <a:ext cx="560527" cy="219456"/>
          </a:xfrm>
          <a:prstGeom prst="roundRect">
            <a:avLst>
              <a:gd name="adj" fmla="val 50000"/>
            </a:avLst>
          </a:prstGeom>
          <a:solidFill>
            <a:srgbClr val="FAF5FF"/>
          </a:solidFill>
          <a:ln/>
        </p:spPr>
      </p:sp>
      <p:sp>
        <p:nvSpPr>
          <p:cNvPr id="39" name="Text 37"/>
          <p:cNvSpPr/>
          <p:nvPr/>
        </p:nvSpPr>
        <p:spPr>
          <a:xfrm>
            <a:off x="5429707" y="3386023"/>
            <a:ext cx="560527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70" b="1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calls</a:t>
            </a:r>
            <a:endParaRPr lang="en-US" sz="1170" dirty="0"/>
          </a:p>
        </p:txBody>
      </p:sp>
      <p:sp>
        <p:nvSpPr>
          <p:cNvPr id="40" name="Shape 38"/>
          <p:cNvSpPr/>
          <p:nvPr/>
        </p:nvSpPr>
        <p:spPr>
          <a:xfrm flipH="1">
            <a:off x="4950562" y="4248302"/>
            <a:ext cx="2532888" cy="914"/>
          </a:xfrm>
          <a:prstGeom prst="line">
            <a:avLst/>
          </a:prstGeom>
          <a:noFill/>
          <a:ln w="15240">
            <a:solidFill>
              <a:srgbClr val="64748B"/>
            </a:solidFill>
            <a:prstDash val="solid"/>
            <a:tailEnd type="triangle" w="sm" len="sm"/>
          </a:ln>
        </p:spPr>
      </p:sp>
      <p:sp>
        <p:nvSpPr>
          <p:cNvPr id="41" name="Shape 39"/>
          <p:cNvSpPr/>
          <p:nvPr/>
        </p:nvSpPr>
        <p:spPr>
          <a:xfrm>
            <a:off x="5552237" y="4088282"/>
            <a:ext cx="1330452" cy="219456"/>
          </a:xfrm>
          <a:prstGeom prst="roundRect">
            <a:avLst>
              <a:gd name="adj" fmla="val 50000"/>
            </a:avLst>
          </a:prstGeom>
          <a:solidFill>
            <a:srgbClr val="FAF5FF"/>
          </a:solidFill>
          <a:ln/>
        </p:spPr>
      </p:sp>
      <p:sp>
        <p:nvSpPr>
          <p:cNvPr id="42" name="Text 40"/>
          <p:cNvSpPr/>
          <p:nvPr/>
        </p:nvSpPr>
        <p:spPr>
          <a:xfrm>
            <a:off x="5552237" y="4088282"/>
            <a:ext cx="133045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70" b="1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returns results</a:t>
            </a:r>
            <a:endParaRPr lang="en-US" sz="1170" dirty="0"/>
          </a:p>
        </p:txBody>
      </p:sp>
      <p:sp>
        <p:nvSpPr>
          <p:cNvPr id="43" name="Shape 41"/>
          <p:cNvSpPr/>
          <p:nvPr/>
        </p:nvSpPr>
        <p:spPr>
          <a:xfrm>
            <a:off x="8708746" y="3546043"/>
            <a:ext cx="396850" cy="914"/>
          </a:xfrm>
          <a:prstGeom prst="line">
            <a:avLst/>
          </a:prstGeom>
          <a:noFill/>
          <a:ln w="16256">
            <a:solidFill>
              <a:srgbClr val="64748B"/>
            </a:solidFill>
            <a:prstDash val="solid"/>
            <a:tailEnd type="triangle" w="sm" len="sm"/>
          </a:ln>
        </p:spPr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9184" y="219456"/>
            <a:ext cx="11530584" cy="530352"/>
          </a:xfrm>
          <a:prstGeom prst="roundRect">
            <a:avLst>
              <a:gd name="adj" fmla="val 6897"/>
            </a:avLst>
          </a:prstGeom>
          <a:solidFill>
            <a:srgbClr val="FFFFFF"/>
          </a:solidFill>
          <a:ln w="10795">
            <a:solidFill>
              <a:srgbClr val="CBD5E1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75488" y="320040"/>
            <a:ext cx="1847088" cy="329184"/>
          </a:xfrm>
          <a:prstGeom prst="roundRect">
            <a:avLst>
              <a:gd name="adj" fmla="val 55556"/>
            </a:avLst>
          </a:prstGeom>
          <a:solidFill>
            <a:srgbClr val="EFF6FF"/>
          </a:solidFill>
          <a:ln w="9525">
            <a:solidFill>
              <a:srgbClr val="93C5F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75488" y="320040"/>
            <a:ext cx="184708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80" b="1" dirty="0">
                <a:solidFill>
                  <a:srgbClr val="1D4E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T53 • SECTION 03 OF 04</a:t>
            </a:r>
            <a:endParaRPr lang="en-US" sz="880" dirty="0"/>
          </a:p>
        </p:txBody>
      </p:sp>
      <p:sp>
        <p:nvSpPr>
          <p:cNvPr id="5" name="Text 3"/>
          <p:cNvSpPr/>
          <p:nvPr/>
        </p:nvSpPr>
        <p:spPr>
          <a:xfrm>
            <a:off x="2450592" y="219456"/>
            <a:ext cx="68580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8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Context + Harness + Loop + Graph</a:t>
            </a:r>
            <a:endParaRPr lang="en-US" sz="1380" dirty="0"/>
          </a:p>
        </p:txBody>
      </p:sp>
      <p:sp>
        <p:nvSpPr>
          <p:cNvPr id="6" name="Shape 4"/>
          <p:cNvSpPr/>
          <p:nvPr/>
        </p:nvSpPr>
        <p:spPr>
          <a:xfrm>
            <a:off x="9436608" y="320040"/>
            <a:ext cx="2267712" cy="329184"/>
          </a:xfrm>
          <a:prstGeom prst="roundRect">
            <a:avLst>
              <a:gd name="adj" fmla="val 55556"/>
            </a:avLst>
          </a:prstGeom>
          <a:solidFill>
            <a:srgbClr val="ECFDF5"/>
          </a:solidFill>
          <a:ln w="9525">
            <a:solidFill>
              <a:srgbClr val="6EE7B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436608" y="320040"/>
            <a:ext cx="226771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80" b="1" dirty="0">
                <a:solidFill>
                  <a:srgbClr val="065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100% Native Editable Shapes</a:t>
            </a:r>
            <a:endParaRPr lang="en-US" sz="880" dirty="0"/>
          </a:p>
        </p:txBody>
      </p:sp>
      <p:sp>
        <p:nvSpPr>
          <p:cNvPr id="8" name="Shape 6"/>
          <p:cNvSpPr/>
          <p:nvPr/>
        </p:nvSpPr>
        <p:spPr>
          <a:xfrm>
            <a:off x="1052474" y="1137514"/>
            <a:ext cx="10619842" cy="5169103"/>
          </a:xfrm>
          <a:prstGeom prst="roundRect">
            <a:avLst>
              <a:gd name="adj" fmla="val 884"/>
            </a:avLst>
          </a:prstGeom>
          <a:solidFill>
            <a:srgbClr val="FFFFFF"/>
          </a:solidFill>
          <a:ln w="14288">
            <a:solidFill>
              <a:srgbClr val="CBD5E1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309421" y="5101438"/>
            <a:ext cx="10106863" cy="903427"/>
          </a:xfrm>
          <a:prstGeom prst="roundRect">
            <a:avLst>
              <a:gd name="adj" fmla="val 5061"/>
            </a:avLst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449324" y="5101438"/>
            <a:ext cx="1260043" cy="90342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7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PROMPT</a:t>
            </a:r>
            <a:endParaRPr lang="en-US" sz="1170" dirty="0"/>
          </a:p>
        </p:txBody>
      </p:sp>
      <p:sp>
        <p:nvSpPr>
          <p:cNvPr id="11" name="Text 9"/>
          <p:cNvSpPr/>
          <p:nvPr/>
        </p:nvSpPr>
        <p:spPr>
          <a:xfrm>
            <a:off x="2709367" y="5101438"/>
            <a:ext cx="8217713" cy="90342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6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Check that every box fits and nothing is cut off. Fix failures and recheck. Stop after 3 tries and report what still fails.</a:t>
            </a:r>
            <a:endParaRPr lang="en-US" sz="1260" dirty="0"/>
          </a:p>
        </p:txBody>
      </p:sp>
      <p:sp>
        <p:nvSpPr>
          <p:cNvPr id="12" name="Shape 10"/>
          <p:cNvSpPr/>
          <p:nvPr/>
        </p:nvSpPr>
        <p:spPr>
          <a:xfrm>
            <a:off x="11020349" y="5425135"/>
            <a:ext cx="256032" cy="256032"/>
          </a:xfrm>
          <a:prstGeom prst="ellipse">
            <a:avLst/>
          </a:prstGeom>
          <a:solidFill>
            <a:srgbClr val="0F172A"/>
          </a:solidFill>
          <a:ln/>
        </p:spPr>
      </p:sp>
      <p:sp>
        <p:nvSpPr>
          <p:cNvPr id="13" name="Text 11"/>
          <p:cNvSpPr/>
          <p:nvPr/>
        </p:nvSpPr>
        <p:spPr>
          <a:xfrm>
            <a:off x="11020349" y="5425135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↑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1309421" y="1212494"/>
            <a:ext cx="8540496" cy="7022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Loop   </a:t>
            </a:r>
            <a:pPr indent="0" marL="0">
              <a:buNone/>
            </a:pPr>
            <a:r>
              <a:rPr lang="en-US" sz="1260" b="1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check, fix and recheck cycle, with a clear rule for stopping.</a:t>
            </a:r>
            <a:endParaRPr lang="en-US" sz="2000" dirty="0"/>
          </a:p>
        </p:txBody>
      </p:sp>
      <p:sp>
        <p:nvSpPr>
          <p:cNvPr id="15" name="Shape 13"/>
          <p:cNvSpPr/>
          <p:nvPr/>
        </p:nvSpPr>
        <p:spPr>
          <a:xfrm>
            <a:off x="9945929" y="1408176"/>
            <a:ext cx="1470355" cy="310896"/>
          </a:xfrm>
          <a:prstGeom prst="roundRect">
            <a:avLst>
              <a:gd name="adj" fmla="val 58824"/>
            </a:avLst>
          </a:prstGeom>
          <a:solidFill>
            <a:srgbClr val="ECFDF5"/>
          </a:solidFill>
          <a:ln w="10795">
            <a:solidFill>
              <a:srgbClr val="6EE7B7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0016338" y="1408176"/>
            <a:ext cx="13304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70" b="1" dirty="0">
                <a:solidFill>
                  <a:srgbClr val="065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VERIFIED PROOF</a:t>
            </a:r>
            <a:endParaRPr lang="en-US" sz="1070" dirty="0"/>
          </a:p>
        </p:txBody>
      </p:sp>
      <p:sp>
        <p:nvSpPr>
          <p:cNvPr id="17" name="Shape 15"/>
          <p:cNvSpPr/>
          <p:nvPr/>
        </p:nvSpPr>
        <p:spPr>
          <a:xfrm>
            <a:off x="2663647" y="1990649"/>
            <a:ext cx="2521001" cy="1304849"/>
          </a:xfrm>
          <a:prstGeom prst="roundRect">
            <a:avLst>
              <a:gd name="adj" fmla="val 3504"/>
            </a:avLst>
          </a:prstGeom>
          <a:solidFill>
            <a:srgbClr val="ECFDF5"/>
          </a:solidFill>
          <a:ln w="14288">
            <a:solidFill>
              <a:srgbClr val="6EE7B7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663647" y="1990649"/>
            <a:ext cx="2521001" cy="130484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1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CHECK THE OUTPUT ☐ Every box fits ☐ Nothing is cut off</a:t>
            </a:r>
            <a:endParaRPr lang="en-US" sz="1310" dirty="0"/>
          </a:p>
        </p:txBody>
      </p:sp>
      <p:sp>
        <p:nvSpPr>
          <p:cNvPr id="19" name="Shape 17"/>
          <p:cNvSpPr/>
          <p:nvPr/>
        </p:nvSpPr>
        <p:spPr>
          <a:xfrm>
            <a:off x="2663647" y="4147718"/>
            <a:ext cx="2521001" cy="752551"/>
          </a:xfrm>
          <a:prstGeom prst="roundRect">
            <a:avLst>
              <a:gd name="adj" fmla="val 6075"/>
            </a:avLst>
          </a:prstGeom>
          <a:solidFill>
            <a:srgbClr val="D1FAE5"/>
          </a:solidFill>
          <a:ln w="14288">
            <a:solidFill>
              <a:srgbClr val="34D399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663647" y="4147718"/>
            <a:ext cx="2521001" cy="7525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1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Fix the failures</a:t>
            </a:r>
            <a:endParaRPr lang="en-US" sz="1310" dirty="0"/>
          </a:p>
        </p:txBody>
      </p:sp>
      <p:sp>
        <p:nvSpPr>
          <p:cNvPr id="21" name="Shape 19"/>
          <p:cNvSpPr/>
          <p:nvPr/>
        </p:nvSpPr>
        <p:spPr>
          <a:xfrm>
            <a:off x="6070702" y="2241194"/>
            <a:ext cx="2241194" cy="802843"/>
          </a:xfrm>
          <a:prstGeom prst="roundRect">
            <a:avLst>
              <a:gd name="adj" fmla="val 5695"/>
            </a:avLst>
          </a:prstGeom>
          <a:solidFill>
            <a:srgbClr val="ECFDF5"/>
          </a:solidFill>
          <a:ln w="14288">
            <a:solidFill>
              <a:srgbClr val="34D399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070702" y="2241194"/>
            <a:ext cx="2241194" cy="80284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1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 checks pass?</a:t>
            </a:r>
            <a:endParaRPr lang="en-US" sz="1310" dirty="0"/>
          </a:p>
        </p:txBody>
      </p:sp>
      <p:sp>
        <p:nvSpPr>
          <p:cNvPr id="23" name="Shape 21"/>
          <p:cNvSpPr/>
          <p:nvPr/>
        </p:nvSpPr>
        <p:spPr>
          <a:xfrm>
            <a:off x="9245498" y="2241194"/>
            <a:ext cx="2170786" cy="802843"/>
          </a:xfrm>
          <a:prstGeom prst="roundRect">
            <a:avLst>
              <a:gd name="adj" fmla="val 5695"/>
            </a:avLst>
          </a:prstGeom>
          <a:solidFill>
            <a:srgbClr val="0F172A"/>
          </a:solidFill>
          <a:ln w="14288">
            <a:solidFill>
              <a:srgbClr val="0F172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9245498" y="2241194"/>
            <a:ext cx="2170786" cy="80284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1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Done</a:t>
            </a:r>
            <a:endParaRPr lang="en-US" sz="1310" dirty="0"/>
          </a:p>
        </p:txBody>
      </p:sp>
      <p:sp>
        <p:nvSpPr>
          <p:cNvPr id="25" name="Shape 23"/>
          <p:cNvSpPr/>
          <p:nvPr/>
        </p:nvSpPr>
        <p:spPr>
          <a:xfrm>
            <a:off x="6070702" y="4147718"/>
            <a:ext cx="2241194" cy="752551"/>
          </a:xfrm>
          <a:prstGeom prst="roundRect">
            <a:avLst>
              <a:gd name="adj" fmla="val 6075"/>
            </a:avLst>
          </a:prstGeom>
          <a:solidFill>
            <a:srgbClr val="ECFDF5"/>
          </a:solidFill>
          <a:ln w="14288">
            <a:solidFill>
              <a:srgbClr val="34D399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070702" y="4147718"/>
            <a:ext cx="2241194" cy="7525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1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tries used?</a:t>
            </a:r>
            <a:endParaRPr lang="en-US" sz="1310" dirty="0"/>
          </a:p>
        </p:txBody>
      </p:sp>
      <p:sp>
        <p:nvSpPr>
          <p:cNvPr id="27" name="Shape 25"/>
          <p:cNvSpPr/>
          <p:nvPr/>
        </p:nvSpPr>
        <p:spPr>
          <a:xfrm>
            <a:off x="9245498" y="4147718"/>
            <a:ext cx="2170786" cy="752551"/>
          </a:xfrm>
          <a:prstGeom prst="roundRect">
            <a:avLst>
              <a:gd name="adj" fmla="val 6075"/>
            </a:avLst>
          </a:prstGeom>
          <a:solidFill>
            <a:srgbClr val="FFF7ED"/>
          </a:solidFill>
          <a:ln w="14288">
            <a:solidFill>
              <a:srgbClr val="FB923C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9245498" y="4147718"/>
            <a:ext cx="2170786" cy="7525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1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Stop + report</a:t>
            </a:r>
            <a:endParaRPr lang="en-US" sz="1310" dirty="0"/>
          </a:p>
        </p:txBody>
      </p:sp>
      <p:sp>
        <p:nvSpPr>
          <p:cNvPr id="29" name="Shape 27"/>
          <p:cNvSpPr/>
          <p:nvPr/>
        </p:nvSpPr>
        <p:spPr>
          <a:xfrm>
            <a:off x="1613002" y="1990649"/>
            <a:ext cx="607162" cy="607162"/>
          </a:xfrm>
          <a:prstGeom prst="ellipse">
            <a:avLst/>
          </a:prstGeom>
          <a:solidFill>
            <a:srgbClr val="FFFFFF"/>
          </a:solidFill>
          <a:ln w="14288">
            <a:solidFill>
              <a:srgbClr val="CBD5E1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1758391" y="2136038"/>
            <a:ext cx="315468" cy="315468"/>
          </a:xfrm>
          <a:prstGeom prst="ellipse">
            <a:avLst/>
          </a:prstGeom>
          <a:solidFill>
            <a:srgbClr val="EFF6FF"/>
          </a:solidFill>
          <a:ln w="19050">
            <a:solidFill>
              <a:srgbClr val="2563EB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1861718" y="2239366"/>
            <a:ext cx="109728" cy="109728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32" name="Text 30"/>
          <p:cNvSpPr/>
          <p:nvPr/>
        </p:nvSpPr>
        <p:spPr>
          <a:xfrm>
            <a:off x="1507846" y="3344875"/>
            <a:ext cx="816559" cy="4517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7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attempt</a:t>
            </a:r>
            <a:endParaRPr lang="en-US" sz="1370" dirty="0"/>
          </a:p>
        </p:txBody>
      </p:sp>
      <p:sp>
        <p:nvSpPr>
          <p:cNvPr id="33" name="Shape 31"/>
          <p:cNvSpPr/>
          <p:nvPr/>
        </p:nvSpPr>
        <p:spPr>
          <a:xfrm>
            <a:off x="422453" y="1212494"/>
            <a:ext cx="443484" cy="326441"/>
          </a:xfrm>
          <a:prstGeom prst="roundRect">
            <a:avLst>
              <a:gd name="adj" fmla="val 14006"/>
            </a:avLst>
          </a:prstGeom>
          <a:solidFill>
            <a:srgbClr val="DCFCE7"/>
          </a:solidFill>
          <a:ln w="14288">
            <a:solidFill>
              <a:srgbClr val="10B981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22453" y="1212494"/>
            <a:ext cx="443484" cy="32644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30" b="1" dirty="0">
                <a:solidFill>
                  <a:srgbClr val="0478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430" dirty="0"/>
          </a:p>
        </p:txBody>
      </p:sp>
      <p:sp>
        <p:nvSpPr>
          <p:cNvPr id="35" name="Shape 33"/>
          <p:cNvSpPr/>
          <p:nvPr/>
        </p:nvSpPr>
        <p:spPr>
          <a:xfrm>
            <a:off x="2220163" y="2642616"/>
            <a:ext cx="443484" cy="914"/>
          </a:xfrm>
          <a:prstGeom prst="line">
            <a:avLst/>
          </a:prstGeom>
          <a:noFill/>
          <a:ln w="16256">
            <a:solidFill>
              <a:srgbClr val="64748B"/>
            </a:solidFill>
            <a:prstDash val="solid"/>
            <a:tailEnd type="triangle" w="sm" len="sm"/>
          </a:ln>
        </p:spPr>
      </p:sp>
      <p:sp>
        <p:nvSpPr>
          <p:cNvPr id="36" name="Shape 34"/>
          <p:cNvSpPr/>
          <p:nvPr/>
        </p:nvSpPr>
        <p:spPr>
          <a:xfrm>
            <a:off x="5183734" y="2642616"/>
            <a:ext cx="886968" cy="914"/>
          </a:xfrm>
          <a:prstGeom prst="line">
            <a:avLst/>
          </a:prstGeom>
          <a:noFill/>
          <a:ln w="16256">
            <a:solidFill>
              <a:srgbClr val="64748B"/>
            </a:solidFill>
            <a:prstDash val="solid"/>
            <a:tailEnd type="triangle" w="sm" len="sm"/>
          </a:ln>
        </p:spPr>
      </p:sp>
      <p:sp>
        <p:nvSpPr>
          <p:cNvPr id="37" name="Shape 35"/>
          <p:cNvSpPr/>
          <p:nvPr/>
        </p:nvSpPr>
        <p:spPr>
          <a:xfrm>
            <a:off x="8311896" y="2642616"/>
            <a:ext cx="933602" cy="914"/>
          </a:xfrm>
          <a:prstGeom prst="line">
            <a:avLst/>
          </a:prstGeom>
          <a:noFill/>
          <a:ln w="20320">
            <a:solidFill>
              <a:srgbClr val="10B981"/>
            </a:solidFill>
            <a:prstDash val="solid"/>
            <a:tailEnd type="triangle" w="sm" len="sm"/>
          </a:ln>
        </p:spPr>
      </p:sp>
      <p:sp>
        <p:nvSpPr>
          <p:cNvPr id="38" name="Shape 36"/>
          <p:cNvSpPr/>
          <p:nvPr/>
        </p:nvSpPr>
        <p:spPr>
          <a:xfrm>
            <a:off x="8440826" y="2495398"/>
            <a:ext cx="560527" cy="21945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/>
        </p:spPr>
      </p:sp>
      <p:sp>
        <p:nvSpPr>
          <p:cNvPr id="39" name="Text 37"/>
          <p:cNvSpPr/>
          <p:nvPr/>
        </p:nvSpPr>
        <p:spPr>
          <a:xfrm>
            <a:off x="8440826" y="2495398"/>
            <a:ext cx="560527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70" b="1" dirty="0">
                <a:solidFill>
                  <a:srgbClr val="0478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yes</a:t>
            </a:r>
            <a:endParaRPr lang="en-US" sz="1170" dirty="0"/>
          </a:p>
        </p:txBody>
      </p:sp>
      <p:sp>
        <p:nvSpPr>
          <p:cNvPr id="40" name="Shape 38"/>
          <p:cNvSpPr/>
          <p:nvPr/>
        </p:nvSpPr>
        <p:spPr>
          <a:xfrm>
            <a:off x="7191756" y="3044038"/>
            <a:ext cx="914" cy="1103681"/>
          </a:xfrm>
          <a:prstGeom prst="line">
            <a:avLst/>
          </a:prstGeom>
          <a:noFill/>
          <a:ln w="16256">
            <a:solidFill>
              <a:srgbClr val="64748B"/>
            </a:solidFill>
            <a:prstDash val="solid"/>
            <a:tailEnd type="triangle" w="sm" len="sm"/>
          </a:ln>
        </p:spPr>
      </p:sp>
      <p:sp>
        <p:nvSpPr>
          <p:cNvPr id="41" name="Shape 39"/>
          <p:cNvSpPr/>
          <p:nvPr/>
        </p:nvSpPr>
        <p:spPr>
          <a:xfrm>
            <a:off x="6911950" y="3335731"/>
            <a:ext cx="560527" cy="21945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/>
        </p:spPr>
      </p:sp>
      <p:sp>
        <p:nvSpPr>
          <p:cNvPr id="42" name="Text 40"/>
          <p:cNvSpPr/>
          <p:nvPr/>
        </p:nvSpPr>
        <p:spPr>
          <a:xfrm>
            <a:off x="6911950" y="3335731"/>
            <a:ext cx="560527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70" b="1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</a:t>
            </a:r>
            <a:endParaRPr lang="en-US" sz="1170" dirty="0"/>
          </a:p>
        </p:txBody>
      </p:sp>
      <p:sp>
        <p:nvSpPr>
          <p:cNvPr id="43" name="Shape 41"/>
          <p:cNvSpPr/>
          <p:nvPr/>
        </p:nvSpPr>
        <p:spPr>
          <a:xfrm>
            <a:off x="8311896" y="4524451"/>
            <a:ext cx="933602" cy="914"/>
          </a:xfrm>
          <a:prstGeom prst="line">
            <a:avLst/>
          </a:prstGeom>
          <a:noFill/>
          <a:ln w="20320">
            <a:solidFill>
              <a:srgbClr val="DC2626"/>
            </a:solidFill>
            <a:prstDash val="solid"/>
            <a:tailEnd type="triangle" w="sm" len="sm"/>
          </a:ln>
        </p:spPr>
      </p:sp>
      <p:sp>
        <p:nvSpPr>
          <p:cNvPr id="44" name="Shape 42"/>
          <p:cNvSpPr/>
          <p:nvPr/>
        </p:nvSpPr>
        <p:spPr>
          <a:xfrm>
            <a:off x="8440826" y="4377233"/>
            <a:ext cx="560527" cy="21945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/>
        </p:spPr>
      </p:sp>
      <p:sp>
        <p:nvSpPr>
          <p:cNvPr id="45" name="Text 43"/>
          <p:cNvSpPr/>
          <p:nvPr/>
        </p:nvSpPr>
        <p:spPr>
          <a:xfrm>
            <a:off x="8440826" y="4377233"/>
            <a:ext cx="560527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70" b="1" dirty="0">
                <a:solidFill>
                  <a:srgbClr val="B91C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yes</a:t>
            </a:r>
            <a:endParaRPr lang="en-US" sz="1170" dirty="0"/>
          </a:p>
        </p:txBody>
      </p:sp>
      <p:sp>
        <p:nvSpPr>
          <p:cNvPr id="46" name="Shape 44"/>
          <p:cNvSpPr/>
          <p:nvPr/>
        </p:nvSpPr>
        <p:spPr>
          <a:xfrm flipH="1">
            <a:off x="5183734" y="4524451"/>
            <a:ext cx="886968" cy="914"/>
          </a:xfrm>
          <a:prstGeom prst="line">
            <a:avLst/>
          </a:prstGeom>
          <a:noFill/>
          <a:ln w="16256">
            <a:solidFill>
              <a:srgbClr val="10B981"/>
            </a:solidFill>
            <a:prstDash val="solid"/>
            <a:tailEnd type="triangle" w="sm" len="sm"/>
          </a:ln>
        </p:spPr>
      </p:sp>
      <p:sp>
        <p:nvSpPr>
          <p:cNvPr id="47" name="Shape 45"/>
          <p:cNvSpPr/>
          <p:nvPr/>
        </p:nvSpPr>
        <p:spPr>
          <a:xfrm>
            <a:off x="5405933" y="4377233"/>
            <a:ext cx="560527" cy="21945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/>
        </p:spPr>
      </p:sp>
      <p:sp>
        <p:nvSpPr>
          <p:cNvPr id="48" name="Text 46"/>
          <p:cNvSpPr/>
          <p:nvPr/>
        </p:nvSpPr>
        <p:spPr>
          <a:xfrm>
            <a:off x="5405933" y="4377233"/>
            <a:ext cx="560527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70" b="1" dirty="0">
                <a:solidFill>
                  <a:srgbClr val="0478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</a:t>
            </a:r>
            <a:endParaRPr lang="en-US" sz="1170" dirty="0"/>
          </a:p>
        </p:txBody>
      </p:sp>
      <p:sp>
        <p:nvSpPr>
          <p:cNvPr id="49" name="Shape 47"/>
          <p:cNvSpPr/>
          <p:nvPr/>
        </p:nvSpPr>
        <p:spPr>
          <a:xfrm flipH="1" flipV="1">
            <a:off x="1613002" y="2642616"/>
            <a:ext cx="1050646" cy="1881835"/>
          </a:xfrm>
          <a:prstGeom prst="line">
            <a:avLst/>
          </a:prstGeom>
          <a:noFill/>
          <a:ln w="20320">
            <a:solidFill>
              <a:srgbClr val="10B981"/>
            </a:solidFill>
            <a:prstDash val="solid"/>
            <a:tailEnd type="triangle" w="sm" len="sm"/>
          </a:ln>
        </p:spPr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9184" y="219456"/>
            <a:ext cx="11530584" cy="530352"/>
          </a:xfrm>
          <a:prstGeom prst="roundRect">
            <a:avLst>
              <a:gd name="adj" fmla="val 6897"/>
            </a:avLst>
          </a:prstGeom>
          <a:solidFill>
            <a:srgbClr val="FFFFFF"/>
          </a:solidFill>
          <a:ln w="10795">
            <a:solidFill>
              <a:srgbClr val="CBD5E1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75488" y="320040"/>
            <a:ext cx="1847088" cy="329184"/>
          </a:xfrm>
          <a:prstGeom prst="roundRect">
            <a:avLst>
              <a:gd name="adj" fmla="val 55556"/>
            </a:avLst>
          </a:prstGeom>
          <a:solidFill>
            <a:srgbClr val="EFF6FF"/>
          </a:solidFill>
          <a:ln w="9525">
            <a:solidFill>
              <a:srgbClr val="93C5F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75488" y="320040"/>
            <a:ext cx="184708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80" b="1" dirty="0">
                <a:solidFill>
                  <a:srgbClr val="1D4E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T53 • SECTION 04 OF 04</a:t>
            </a:r>
            <a:endParaRPr lang="en-US" sz="880" dirty="0"/>
          </a:p>
        </p:txBody>
      </p:sp>
      <p:sp>
        <p:nvSpPr>
          <p:cNvPr id="5" name="Text 3"/>
          <p:cNvSpPr/>
          <p:nvPr/>
        </p:nvSpPr>
        <p:spPr>
          <a:xfrm>
            <a:off x="2450592" y="219456"/>
            <a:ext cx="68580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8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Context + Harness + Loop + Graph</a:t>
            </a:r>
            <a:endParaRPr lang="en-US" sz="1380" dirty="0"/>
          </a:p>
        </p:txBody>
      </p:sp>
      <p:sp>
        <p:nvSpPr>
          <p:cNvPr id="6" name="Shape 4"/>
          <p:cNvSpPr/>
          <p:nvPr/>
        </p:nvSpPr>
        <p:spPr>
          <a:xfrm>
            <a:off x="9436608" y="320040"/>
            <a:ext cx="2267712" cy="329184"/>
          </a:xfrm>
          <a:prstGeom prst="roundRect">
            <a:avLst>
              <a:gd name="adj" fmla="val 55556"/>
            </a:avLst>
          </a:prstGeom>
          <a:solidFill>
            <a:srgbClr val="ECFDF5"/>
          </a:solidFill>
          <a:ln w="9525">
            <a:solidFill>
              <a:srgbClr val="6EE7B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436608" y="320040"/>
            <a:ext cx="226771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80" b="1" dirty="0">
                <a:solidFill>
                  <a:srgbClr val="065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100% Native Editable Shapes</a:t>
            </a:r>
            <a:endParaRPr lang="en-US" sz="880" dirty="0"/>
          </a:p>
        </p:txBody>
      </p:sp>
      <p:sp>
        <p:nvSpPr>
          <p:cNvPr id="8" name="Shape 6"/>
          <p:cNvSpPr/>
          <p:nvPr/>
        </p:nvSpPr>
        <p:spPr>
          <a:xfrm>
            <a:off x="1052474" y="1137514"/>
            <a:ext cx="10619842" cy="5169103"/>
          </a:xfrm>
          <a:prstGeom prst="roundRect">
            <a:avLst>
              <a:gd name="adj" fmla="val 884"/>
            </a:avLst>
          </a:prstGeom>
          <a:solidFill>
            <a:srgbClr val="FFFFFF"/>
          </a:solidFill>
          <a:ln w="14288">
            <a:solidFill>
              <a:srgbClr val="CBD5E1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309421" y="2190902"/>
            <a:ext cx="5042002" cy="2609698"/>
          </a:xfrm>
          <a:prstGeom prst="roundRect">
            <a:avLst>
              <a:gd name="adj" fmla="val 1752"/>
            </a:avLst>
          </a:prstGeom>
          <a:solidFill>
            <a:srgbClr val="F8FAFC"/>
          </a:solidFill>
          <a:ln w="14288">
            <a:solidFill>
              <a:srgbClr val="93C5FD"/>
            </a:solidFill>
            <a:prstDash val="dash"/>
          </a:ln>
        </p:spPr>
      </p:sp>
      <p:sp>
        <p:nvSpPr>
          <p:cNvPr id="10" name="Shape 8"/>
          <p:cNvSpPr/>
          <p:nvPr/>
        </p:nvSpPr>
        <p:spPr>
          <a:xfrm>
            <a:off x="7401154" y="2190902"/>
            <a:ext cx="4015130" cy="2609698"/>
          </a:xfrm>
          <a:prstGeom prst="roundRect">
            <a:avLst>
              <a:gd name="adj" fmla="val 1752"/>
            </a:avLst>
          </a:prstGeom>
          <a:solidFill>
            <a:srgbClr val="FFFFFF"/>
          </a:solidFill>
          <a:ln w="14288">
            <a:solidFill>
              <a:srgbClr val="93C5FD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309421" y="5101438"/>
            <a:ext cx="10106863" cy="903427"/>
          </a:xfrm>
          <a:prstGeom prst="roundRect">
            <a:avLst>
              <a:gd name="adj" fmla="val 5061"/>
            </a:avLst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449324" y="5101438"/>
            <a:ext cx="1260043" cy="90342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7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PROMPT</a:t>
            </a:r>
            <a:endParaRPr lang="en-US" sz="1170" dirty="0"/>
          </a:p>
        </p:txBody>
      </p:sp>
      <p:sp>
        <p:nvSpPr>
          <p:cNvPr id="13" name="Text 11"/>
          <p:cNvSpPr/>
          <p:nvPr/>
        </p:nvSpPr>
        <p:spPr>
          <a:xfrm>
            <a:off x="2709367" y="5101438"/>
            <a:ext cx="8217713" cy="90342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6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Read this folder. Write MAP.md: topics, unlinked files, connections, date and files read. Mark links FOUND or GUESSED. List unread files.</a:t>
            </a:r>
            <a:endParaRPr lang="en-US" sz="1260" dirty="0"/>
          </a:p>
        </p:txBody>
      </p:sp>
      <p:sp>
        <p:nvSpPr>
          <p:cNvPr id="14" name="Shape 12"/>
          <p:cNvSpPr/>
          <p:nvPr/>
        </p:nvSpPr>
        <p:spPr>
          <a:xfrm>
            <a:off x="11020349" y="5425135"/>
            <a:ext cx="256032" cy="256032"/>
          </a:xfrm>
          <a:prstGeom prst="ellipse">
            <a:avLst/>
          </a:prstGeom>
          <a:solidFill>
            <a:srgbClr val="0F172A"/>
          </a:solidFill>
          <a:ln/>
        </p:spPr>
      </p:sp>
      <p:sp>
        <p:nvSpPr>
          <p:cNvPr id="15" name="Text 13"/>
          <p:cNvSpPr/>
          <p:nvPr/>
        </p:nvSpPr>
        <p:spPr>
          <a:xfrm>
            <a:off x="11020349" y="5425135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↑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7564831" y="3276295"/>
            <a:ext cx="3687775" cy="0"/>
          </a:xfrm>
          <a:prstGeom prst="line">
            <a:avLst/>
          </a:prstGeom>
          <a:noFill/>
          <a:ln w="6350">
            <a:solidFill>
              <a:srgbClr val="CBD5E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564831" y="2767889"/>
            <a:ext cx="1327709" cy="50840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Topics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8892540" y="2767889"/>
            <a:ext cx="2360066" cy="50840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20" b="1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files grouped</a:t>
            </a:r>
            <a:endParaRPr lang="en-US" sz="1220" dirty="0"/>
          </a:p>
        </p:txBody>
      </p:sp>
      <p:sp>
        <p:nvSpPr>
          <p:cNvPr id="19" name="Shape 17"/>
          <p:cNvSpPr/>
          <p:nvPr/>
        </p:nvSpPr>
        <p:spPr>
          <a:xfrm>
            <a:off x="7564831" y="3783787"/>
            <a:ext cx="3687775" cy="0"/>
          </a:xfrm>
          <a:prstGeom prst="line">
            <a:avLst/>
          </a:prstGeom>
          <a:noFill/>
          <a:ln w="6350">
            <a:solidFill>
              <a:srgbClr val="CBD5E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564831" y="3276295"/>
            <a:ext cx="1327709" cy="50840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Connections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8892540" y="3276295"/>
            <a:ext cx="2360066" cy="50840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20" b="1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found / guessed</a:t>
            </a:r>
            <a:endParaRPr lang="en-US" sz="1220" dirty="0"/>
          </a:p>
        </p:txBody>
      </p:sp>
      <p:sp>
        <p:nvSpPr>
          <p:cNvPr id="22" name="Shape 20"/>
          <p:cNvSpPr/>
          <p:nvPr/>
        </p:nvSpPr>
        <p:spPr>
          <a:xfrm>
            <a:off x="7564831" y="4292194"/>
            <a:ext cx="3687775" cy="0"/>
          </a:xfrm>
          <a:prstGeom prst="line">
            <a:avLst/>
          </a:prstGeom>
          <a:noFill/>
          <a:ln w="6350">
            <a:solidFill>
              <a:srgbClr val="CBD5E1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564831" y="3784702"/>
            <a:ext cx="1327709" cy="50840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Unlinked files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8892540" y="3784702"/>
            <a:ext cx="2360066" cy="50840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20" b="1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still searchable</a:t>
            </a:r>
            <a:endParaRPr lang="en-US" sz="1220" dirty="0"/>
          </a:p>
        </p:txBody>
      </p:sp>
      <p:sp>
        <p:nvSpPr>
          <p:cNvPr id="25" name="Text 23"/>
          <p:cNvSpPr/>
          <p:nvPr/>
        </p:nvSpPr>
        <p:spPr>
          <a:xfrm>
            <a:off x="7564831" y="4292194"/>
            <a:ext cx="1327709" cy="50840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Read status</a:t>
            </a:r>
            <a:endParaRPr lang="en-US" sz="1250" dirty="0"/>
          </a:p>
        </p:txBody>
      </p:sp>
      <p:sp>
        <p:nvSpPr>
          <p:cNvPr id="26" name="Text 24"/>
          <p:cNvSpPr/>
          <p:nvPr/>
        </p:nvSpPr>
        <p:spPr>
          <a:xfrm>
            <a:off x="8892540" y="4292194"/>
            <a:ext cx="2360066" cy="50840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20" b="1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read / unread</a:t>
            </a:r>
            <a:endParaRPr lang="en-US" sz="1220" dirty="0"/>
          </a:p>
        </p:txBody>
      </p:sp>
      <p:sp>
        <p:nvSpPr>
          <p:cNvPr id="27" name="Text 25"/>
          <p:cNvSpPr/>
          <p:nvPr/>
        </p:nvSpPr>
        <p:spPr>
          <a:xfrm>
            <a:off x="1309421" y="1337767"/>
            <a:ext cx="8540496" cy="7022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Graph   </a:t>
            </a:r>
            <a:pPr indent="0" marL="0">
              <a:buNone/>
            </a:pPr>
            <a:r>
              <a:rPr lang="en-US" sz="1260" b="1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map of files and the relationships between them.</a:t>
            </a:r>
            <a:endParaRPr lang="en-US" sz="2000" dirty="0"/>
          </a:p>
        </p:txBody>
      </p:sp>
      <p:sp>
        <p:nvSpPr>
          <p:cNvPr id="28" name="Shape 26"/>
          <p:cNvSpPr/>
          <p:nvPr/>
        </p:nvSpPr>
        <p:spPr>
          <a:xfrm>
            <a:off x="9945929" y="1533449"/>
            <a:ext cx="1470355" cy="310896"/>
          </a:xfrm>
          <a:prstGeom prst="roundRect">
            <a:avLst>
              <a:gd name="adj" fmla="val 58824"/>
            </a:avLst>
          </a:prstGeom>
          <a:solidFill>
            <a:srgbClr val="ECFDF5"/>
          </a:solidFill>
          <a:ln w="10795">
            <a:solidFill>
              <a:srgbClr val="6EE7B7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10016338" y="1533449"/>
            <a:ext cx="13304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70" b="1" dirty="0">
                <a:solidFill>
                  <a:srgbClr val="065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VERIFIED PROOF</a:t>
            </a:r>
            <a:endParaRPr lang="en-US" sz="1070" dirty="0"/>
          </a:p>
        </p:txBody>
      </p:sp>
      <p:sp>
        <p:nvSpPr>
          <p:cNvPr id="30" name="Shape 28"/>
          <p:cNvSpPr/>
          <p:nvPr/>
        </p:nvSpPr>
        <p:spPr>
          <a:xfrm>
            <a:off x="7401154" y="2190902"/>
            <a:ext cx="4015130" cy="576986"/>
          </a:xfrm>
          <a:prstGeom prst="roundRect">
            <a:avLst>
              <a:gd name="adj" fmla="val 7924"/>
            </a:avLst>
          </a:prstGeom>
          <a:solidFill>
            <a:srgbClr val="DBEAFE"/>
          </a:solidFill>
          <a:ln w="9525">
            <a:solidFill>
              <a:srgbClr val="93C5FD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7401154" y="2190902"/>
            <a:ext cx="4015130" cy="57698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1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MAP.md · dated</a:t>
            </a:r>
            <a:endParaRPr lang="en-US" sz="1310" dirty="0"/>
          </a:p>
        </p:txBody>
      </p:sp>
      <p:sp>
        <p:nvSpPr>
          <p:cNvPr id="32" name="Text 30"/>
          <p:cNvSpPr/>
          <p:nvPr/>
        </p:nvSpPr>
        <p:spPr>
          <a:xfrm>
            <a:off x="3853282" y="2291486"/>
            <a:ext cx="2334463" cy="4517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50" b="1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Lines = file relationships</a:t>
            </a:r>
            <a:endParaRPr lang="en-US" sz="1250" dirty="0"/>
          </a:p>
        </p:txBody>
      </p:sp>
      <p:sp>
        <p:nvSpPr>
          <p:cNvPr id="33" name="Shape 31"/>
          <p:cNvSpPr/>
          <p:nvPr/>
        </p:nvSpPr>
        <p:spPr>
          <a:xfrm>
            <a:off x="4717390" y="3044038"/>
            <a:ext cx="1470355" cy="702259"/>
          </a:xfrm>
          <a:prstGeom prst="roundRect">
            <a:avLst>
              <a:gd name="adj" fmla="val 6510"/>
            </a:avLst>
          </a:prstGeom>
          <a:solidFill>
            <a:srgbClr val="FFFFFF"/>
          </a:solidFill>
          <a:ln w="14288">
            <a:solidFill>
              <a:srgbClr val="94A3B8"/>
            </a:solidFill>
            <a:prstDash val="dash"/>
          </a:ln>
        </p:spPr>
      </p:sp>
      <p:sp>
        <p:nvSpPr>
          <p:cNvPr id="34" name="Text 32"/>
          <p:cNvSpPr/>
          <p:nvPr/>
        </p:nvSpPr>
        <p:spPr>
          <a:xfrm>
            <a:off x="4717390" y="3044038"/>
            <a:ext cx="1470355" cy="7022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1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notes.md</a:t>
            </a:r>
            <a:endParaRPr lang="en-US" sz="1310" dirty="0"/>
          </a:p>
        </p:txBody>
      </p:sp>
      <p:sp>
        <p:nvSpPr>
          <p:cNvPr id="35" name="Shape 33"/>
          <p:cNvSpPr/>
          <p:nvPr/>
        </p:nvSpPr>
        <p:spPr>
          <a:xfrm>
            <a:off x="1449324" y="2843784"/>
            <a:ext cx="1377086" cy="702259"/>
          </a:xfrm>
          <a:prstGeom prst="roundRect">
            <a:avLst>
              <a:gd name="adj" fmla="val 6510"/>
            </a:avLst>
          </a:prstGeom>
          <a:solidFill>
            <a:srgbClr val="DBEAFE"/>
          </a:solidFill>
          <a:ln w="14288">
            <a:solidFill>
              <a:srgbClr val="60A5FA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1449324" y="2843784"/>
            <a:ext cx="1377086" cy="7022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1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brief.md</a:t>
            </a:r>
            <a:endParaRPr lang="en-US" sz="1310" dirty="0"/>
          </a:p>
        </p:txBody>
      </p:sp>
      <p:sp>
        <p:nvSpPr>
          <p:cNvPr id="37" name="Shape 35"/>
          <p:cNvSpPr/>
          <p:nvPr/>
        </p:nvSpPr>
        <p:spPr>
          <a:xfrm>
            <a:off x="1449324" y="3846881"/>
            <a:ext cx="1377086" cy="702259"/>
          </a:xfrm>
          <a:prstGeom prst="roundRect">
            <a:avLst>
              <a:gd name="adj" fmla="val 6510"/>
            </a:avLst>
          </a:prstGeom>
          <a:solidFill>
            <a:srgbClr val="DBEAFE"/>
          </a:solidFill>
          <a:ln w="14288">
            <a:solidFill>
              <a:srgbClr val="60A5FA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1449324" y="3846881"/>
            <a:ext cx="1377086" cy="7022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1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draft.md</a:t>
            </a:r>
            <a:endParaRPr lang="en-US" sz="1310" dirty="0"/>
          </a:p>
        </p:txBody>
      </p:sp>
      <p:sp>
        <p:nvSpPr>
          <p:cNvPr id="39" name="Shape 37"/>
          <p:cNvSpPr/>
          <p:nvPr/>
        </p:nvSpPr>
        <p:spPr>
          <a:xfrm>
            <a:off x="3129991" y="2843784"/>
            <a:ext cx="1377086" cy="702259"/>
          </a:xfrm>
          <a:prstGeom prst="roundRect">
            <a:avLst>
              <a:gd name="adj" fmla="val 6510"/>
            </a:avLst>
          </a:prstGeom>
          <a:solidFill>
            <a:srgbClr val="DBEAFE"/>
          </a:solidFill>
          <a:ln w="14288">
            <a:solidFill>
              <a:srgbClr val="60A5FA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3129991" y="2843784"/>
            <a:ext cx="1377086" cy="7022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1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audience.md</a:t>
            </a:r>
            <a:endParaRPr lang="en-US" sz="1310" dirty="0"/>
          </a:p>
        </p:txBody>
      </p:sp>
      <p:sp>
        <p:nvSpPr>
          <p:cNvPr id="41" name="Shape 39"/>
          <p:cNvSpPr/>
          <p:nvPr/>
        </p:nvSpPr>
        <p:spPr>
          <a:xfrm>
            <a:off x="3129991" y="3846881"/>
            <a:ext cx="1377086" cy="702259"/>
          </a:xfrm>
          <a:prstGeom prst="roundRect">
            <a:avLst>
              <a:gd name="adj" fmla="val 6510"/>
            </a:avLst>
          </a:prstGeom>
          <a:solidFill>
            <a:srgbClr val="DBEAFE"/>
          </a:solidFill>
          <a:ln w="14288">
            <a:solidFill>
              <a:srgbClr val="60A5FA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3129991" y="3846881"/>
            <a:ext cx="1377086" cy="7022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1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offer.md</a:t>
            </a:r>
            <a:endParaRPr lang="en-US" sz="1310" dirty="0"/>
          </a:p>
        </p:txBody>
      </p:sp>
      <p:sp>
        <p:nvSpPr>
          <p:cNvPr id="43" name="Text 41"/>
          <p:cNvSpPr/>
          <p:nvPr/>
        </p:nvSpPr>
        <p:spPr>
          <a:xfrm>
            <a:off x="1449324" y="2291486"/>
            <a:ext cx="2100377" cy="4517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EXAMPLE FOLDER</a:t>
            </a:r>
            <a:endParaRPr lang="en-US" sz="1250" dirty="0"/>
          </a:p>
        </p:txBody>
      </p:sp>
      <p:sp>
        <p:nvSpPr>
          <p:cNvPr id="44" name="Text 42"/>
          <p:cNvSpPr/>
          <p:nvPr/>
        </p:nvSpPr>
        <p:spPr>
          <a:xfrm>
            <a:off x="4869180" y="3846881"/>
            <a:ext cx="1166774" cy="4517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1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unlinked</a:t>
            </a:r>
            <a:endParaRPr lang="en-US" sz="1310" dirty="0"/>
          </a:p>
        </p:txBody>
      </p:sp>
      <p:sp>
        <p:nvSpPr>
          <p:cNvPr id="45" name="Shape 43"/>
          <p:cNvSpPr/>
          <p:nvPr/>
        </p:nvSpPr>
        <p:spPr>
          <a:xfrm>
            <a:off x="422453" y="1337767"/>
            <a:ext cx="443484" cy="326441"/>
          </a:xfrm>
          <a:prstGeom prst="roundRect">
            <a:avLst>
              <a:gd name="adj" fmla="val 14006"/>
            </a:avLst>
          </a:prstGeom>
          <a:solidFill>
            <a:srgbClr val="DBEAFE"/>
          </a:solidFill>
          <a:ln w="14288">
            <a:solidFill>
              <a:srgbClr val="3B82F6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422453" y="1337767"/>
            <a:ext cx="443484" cy="32644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30" b="1" dirty="0">
                <a:solidFill>
                  <a:srgbClr val="1D4E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430" dirty="0"/>
          </a:p>
        </p:txBody>
      </p:sp>
      <p:sp>
        <p:nvSpPr>
          <p:cNvPr id="47" name="Shape 45"/>
          <p:cNvSpPr/>
          <p:nvPr/>
        </p:nvSpPr>
        <p:spPr>
          <a:xfrm>
            <a:off x="2826410" y="3194914"/>
            <a:ext cx="303581" cy="914"/>
          </a:xfrm>
          <a:prstGeom prst="line">
            <a:avLst/>
          </a:prstGeom>
          <a:noFill/>
          <a:ln w="14224">
            <a:solidFill>
              <a:srgbClr val="64748B"/>
            </a:solidFill>
            <a:prstDash val="solid"/>
            <a:tailEnd type="none"/>
          </a:ln>
        </p:spPr>
      </p:sp>
      <p:sp>
        <p:nvSpPr>
          <p:cNvPr id="48" name="Shape 46"/>
          <p:cNvSpPr/>
          <p:nvPr/>
        </p:nvSpPr>
        <p:spPr>
          <a:xfrm>
            <a:off x="2137867" y="3546043"/>
            <a:ext cx="914" cy="300838"/>
          </a:xfrm>
          <a:prstGeom prst="line">
            <a:avLst/>
          </a:prstGeom>
          <a:noFill/>
          <a:ln w="14224">
            <a:solidFill>
              <a:srgbClr val="64748B"/>
            </a:solidFill>
            <a:prstDash val="solid"/>
            <a:tailEnd type="none"/>
          </a:ln>
        </p:spPr>
      </p:sp>
      <p:sp>
        <p:nvSpPr>
          <p:cNvPr id="49" name="Shape 47"/>
          <p:cNvSpPr/>
          <p:nvPr/>
        </p:nvSpPr>
        <p:spPr>
          <a:xfrm>
            <a:off x="2826410" y="4198010"/>
            <a:ext cx="303581" cy="914"/>
          </a:xfrm>
          <a:prstGeom prst="line">
            <a:avLst/>
          </a:prstGeom>
          <a:noFill/>
          <a:ln w="14224">
            <a:solidFill>
              <a:srgbClr val="64748B"/>
            </a:solidFill>
            <a:prstDash val="solid"/>
            <a:tailEnd type="none"/>
          </a:ln>
        </p:spPr>
      </p:sp>
      <p:sp>
        <p:nvSpPr>
          <p:cNvPr id="50" name="Shape 48"/>
          <p:cNvSpPr/>
          <p:nvPr/>
        </p:nvSpPr>
        <p:spPr>
          <a:xfrm>
            <a:off x="3818534" y="3546043"/>
            <a:ext cx="914" cy="300838"/>
          </a:xfrm>
          <a:prstGeom prst="line">
            <a:avLst/>
          </a:prstGeom>
          <a:noFill/>
          <a:ln w="14224">
            <a:solidFill>
              <a:srgbClr val="64748B"/>
            </a:solidFill>
            <a:prstDash val="solid"/>
            <a:tailEnd type="none"/>
          </a:ln>
        </p:spPr>
      </p:sp>
      <p:sp>
        <p:nvSpPr>
          <p:cNvPr id="51" name="Shape 49"/>
          <p:cNvSpPr/>
          <p:nvPr/>
        </p:nvSpPr>
        <p:spPr>
          <a:xfrm>
            <a:off x="2826410" y="3546043"/>
            <a:ext cx="303581" cy="300838"/>
          </a:xfrm>
          <a:prstGeom prst="line">
            <a:avLst/>
          </a:prstGeom>
          <a:noFill/>
          <a:ln w="13208">
            <a:solidFill>
              <a:srgbClr val="64748B"/>
            </a:solidFill>
            <a:prstDash val="solid"/>
            <a:tailEnd type="none"/>
          </a:ln>
        </p:spPr>
      </p:sp>
      <p:sp>
        <p:nvSpPr>
          <p:cNvPr id="52" name="Shape 50"/>
          <p:cNvSpPr/>
          <p:nvPr/>
        </p:nvSpPr>
        <p:spPr>
          <a:xfrm flipV="1">
            <a:off x="2826410" y="3546043"/>
            <a:ext cx="303581" cy="300838"/>
          </a:xfrm>
          <a:prstGeom prst="line">
            <a:avLst/>
          </a:prstGeom>
          <a:noFill/>
          <a:ln w="13208">
            <a:solidFill>
              <a:srgbClr val="64748B"/>
            </a:solidFill>
            <a:prstDash val="solid"/>
            <a:tailEnd type="none"/>
          </a:ln>
        </p:spPr>
      </p:sp>
      <p:sp>
        <p:nvSpPr>
          <p:cNvPr id="53" name="Shape 51"/>
          <p:cNvSpPr/>
          <p:nvPr/>
        </p:nvSpPr>
        <p:spPr>
          <a:xfrm>
            <a:off x="6351422" y="3495751"/>
            <a:ext cx="1049731" cy="914"/>
          </a:xfrm>
          <a:prstGeom prst="line">
            <a:avLst/>
          </a:prstGeom>
          <a:noFill/>
          <a:ln w="16256">
            <a:solidFill>
              <a:srgbClr val="64748B"/>
            </a:solidFill>
            <a:prstDash val="solid"/>
            <a:tailEnd type="triangle" w="sm" len="sm"/>
          </a:ln>
        </p:spPr>
      </p:sp>
      <p:sp>
        <p:nvSpPr>
          <p:cNvPr id="54" name="Shape 52"/>
          <p:cNvSpPr/>
          <p:nvPr/>
        </p:nvSpPr>
        <p:spPr>
          <a:xfrm>
            <a:off x="6537960" y="3335731"/>
            <a:ext cx="560527" cy="21945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/>
        </p:spPr>
      </p:sp>
      <p:sp>
        <p:nvSpPr>
          <p:cNvPr id="55" name="Text 53"/>
          <p:cNvSpPr/>
          <p:nvPr/>
        </p:nvSpPr>
        <p:spPr>
          <a:xfrm>
            <a:off x="6537960" y="3335731"/>
            <a:ext cx="560527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70" b="1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maps</a:t>
            </a:r>
            <a:endParaRPr lang="en-US" sz="117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Google Cloud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T53 — PromptCanvas #52: Anatomy / Deconstruction Spine</dc:title>
  <dc:subject>PptxGenJS Presentation</dc:subject>
  <dc:creator>Google Cloud Architecture Center • Agentic AI Studio</dc:creator>
  <cp:lastModifiedBy>Google Cloud Architecture Center • Agentic AI Studio</cp:lastModifiedBy>
  <cp:revision>1</cp:revision>
  <dcterms:created xsi:type="dcterms:W3CDTF">2026-10-22T04:34:00Z</dcterms:created>
  <dcterms:modified xsi:type="dcterms:W3CDTF">2026-10-22T04:34:00Z</dcterms:modified>
</cp:coreProperties>
</file>