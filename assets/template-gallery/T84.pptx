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vs Decode + KV-Cache Math + Batching + Goodput SLO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Engineering: Compute vs. HBM Bandwidth. Why tok/s is not enough — optimize TTFT, ITL/TPOT, KV pressure &amp; Goodput.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vs Decode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068373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068373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KV state</a:t>
            </a:r>
            <a:endParaRPr lang="en-US" sz="740" dirty="0"/>
          </a:p>
        </p:txBody>
      </p:sp>
      <p:sp>
        <p:nvSpPr>
          <p:cNvPr id="20" name="Text 18"/>
          <p:cNvSpPr/>
          <p:nvPr/>
        </p:nvSpPr>
        <p:spPr>
          <a:xfrm>
            <a:off x="1060704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Prompt Pass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87982" y="3261665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2" name="Shape 20"/>
          <p:cNvSpPr/>
          <p:nvPr/>
        </p:nvSpPr>
        <p:spPr>
          <a:xfrm>
            <a:off x="457200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68373" y="3517697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2068373" y="3517697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weights + KV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60704" y="3535985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Token / Step Autoregressive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687982" y="4310482"/>
            <a:ext cx="914" cy="164592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457200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1060704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FLOP/Byte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Profile Prefill (TTFT, compute-bound) and Decode (ITL/TPOT, HBM-bandwidth-bound) on s...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9333E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KV-Cache Math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94253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03981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03981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005426" y="2468880"/>
            <a:ext cx="777240" cy="182880"/>
          </a:xfrm>
          <a:prstGeom prst="roundRect">
            <a:avLst>
              <a:gd name="adj" fmla="val 100000"/>
            </a:avLst>
          </a:prstGeom>
          <a:solidFill>
            <a:srgbClr val="F1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5005426" y="2468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&lt;4% KV waste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3997757" y="2487168"/>
            <a:ext cx="989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 + GQA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25035" y="3261665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49" name="Shape 47"/>
          <p:cNvSpPr/>
          <p:nvPr/>
        </p:nvSpPr>
        <p:spPr>
          <a:xfrm>
            <a:off x="3394253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3981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03981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2" name="Text 50"/>
          <p:cNvSpPr/>
          <p:nvPr/>
        </p:nvSpPr>
        <p:spPr>
          <a:xfrm>
            <a:off x="3997757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+ CHUNKED PREFILL Interleav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25035" y="4310482"/>
            <a:ext cx="914" cy="164592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  <a:tailEnd type="triangle" w="sm" len="sm"/>
          </a:ln>
        </p:spPr>
      </p:sp>
      <p:sp>
        <p:nvSpPr>
          <p:cNvPr id="54" name="Shape 52"/>
          <p:cNvSpPr/>
          <p:nvPr/>
        </p:nvSpPr>
        <p:spPr>
          <a:xfrm>
            <a:off x="3394253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03981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9333E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03981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57" name="Text 55"/>
          <p:cNvSpPr/>
          <p:nvPr/>
        </p:nvSpPr>
        <p:spPr>
          <a:xfrm>
            <a:off x="3997757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DECODING Draft Propose · 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Combine FlashAttention, PagedAttention block tables, GQA, FP8 KV quantization, and ch...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65" name="Text 63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66" name="Text 64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331306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1034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1034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0" name="Text 68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 GOODPUT &amp; TAIL GATE ☐ p99 TTFT &amp; I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562088" y="3261665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2" name="Shape 70"/>
          <p:cNvSpPr/>
          <p:nvPr/>
        </p:nvSpPr>
        <p:spPr>
          <a:xfrm>
            <a:off x="6331306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1034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1034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5" name="Text 73"/>
          <p:cNvSpPr/>
          <p:nvPr/>
        </p:nvSpPr>
        <p:spPr>
          <a:xfrm>
            <a:off x="6934810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Goodput SLO met?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562088" y="4310482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6331306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41034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41034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80" name="Text 78"/>
          <p:cNvSpPr/>
          <p:nvPr/>
        </p:nvSpPr>
        <p:spPr>
          <a:xfrm>
            <a:off x="6934810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High Goodput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Never size GPU/TPU fleets on raw aggregate tok/s — measure Goodput (requests/sec meet...</a:t>
            </a:r>
            <a:endParaRPr lang="en-US" sz="740" dirty="0"/>
          </a:p>
        </p:txBody>
      </p:sp>
      <p:sp>
        <p:nvSpPr>
          <p:cNvPr id="83" name="Shape 81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88" name="Text 86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Goodput SLO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9268358" y="2395728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378086" y="2618842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378086" y="2618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93" name="Text 91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Queueing Delay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10499141" y="3261665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95" name="Shape 93"/>
          <p:cNvSpPr/>
          <p:nvPr/>
        </p:nvSpPr>
        <p:spPr>
          <a:xfrm>
            <a:off x="9268358" y="3444545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378086" y="3666744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378086" y="3666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98" name="Text 96"/>
          <p:cNvSpPr/>
          <p:nvPr/>
        </p:nvSpPr>
        <p:spPr>
          <a:xfrm>
            <a:off x="9871862" y="3535985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All-Reduce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10499141" y="4310482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100" name="Shape 98"/>
          <p:cNvSpPr/>
          <p:nvPr/>
        </p:nvSpPr>
        <p:spPr>
          <a:xfrm>
            <a:off x="9268358" y="4493362"/>
            <a:ext cx="2461565" cy="847649"/>
          </a:xfrm>
          <a:prstGeom prst="roundRect">
            <a:avLst>
              <a:gd name="adj" fmla="val 5394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378086" y="4715561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378086" y="471556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20" dirty="0"/>
          </a:p>
        </p:txBody>
      </p:sp>
      <p:sp>
        <p:nvSpPr>
          <p:cNvPr id="103" name="Text 101"/>
          <p:cNvSpPr/>
          <p:nvPr/>
        </p:nvSpPr>
        <p:spPr>
          <a:xfrm>
            <a:off x="9871862" y="458480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raw_tok_per_sec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PROMPT: High TTFT -&gt; fix queueing/prefill chunking; High TPOT -&gt; cut HBM KV traffic; OOM -&gt; q...</a:t>
            </a:r>
            <a:endParaRPr lang="en-US" sz="740" dirty="0"/>
          </a:p>
        </p:txBody>
      </p:sp>
      <p:sp>
        <p:nvSpPr>
          <p:cNvPr id="106" name="Shape 104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107" name="Text 105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T84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vs Decode + KV-Cache Math + Batching + Goodput SLO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86891"/>
            <a:ext cx="10619842" cy="5068519"/>
          </a:xfrm>
          <a:prstGeom prst="roundRect">
            <a:avLst>
              <a:gd name="adj" fmla="val 902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85025" y="2241194"/>
            <a:ext cx="4131259" cy="2609698"/>
          </a:xfrm>
          <a:prstGeom prst="roundRect">
            <a:avLst>
              <a:gd name="adj" fmla="val 1752"/>
            </a:avLst>
          </a:prstGeom>
          <a:solidFill>
            <a:srgbClr val="EFF6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9421" y="2241194"/>
            <a:ext cx="3874313" cy="2609698"/>
          </a:xfrm>
          <a:prstGeom prst="roundRect">
            <a:avLst>
              <a:gd name="adj" fmla="val 1752"/>
            </a:avLst>
          </a:prstGeom>
          <a:solidFill>
            <a:srgbClr val="FFFBEB"/>
          </a:solidFill>
          <a:ln w="14288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309421" y="5051146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051146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051146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Prefill (TTFT, compute-bound) and Decode (ITL/TPOT, HBM-bandwidth-bound) on separate Roofline regimes.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374843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37484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09421" y="1388059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vs Decode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splits into parallel compute-bound Prefill (TTFT) and BW-bound Decode (ITL).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945929" y="1583741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16338" y="1583741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424928" y="2843784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64831" y="2843784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Token / Step Autoregressive</a:t>
            </a:r>
            <a:endParaRPr lang="en-US" sz="1290" dirty="0"/>
          </a:p>
        </p:txBody>
      </p:sp>
      <p:sp>
        <p:nvSpPr>
          <p:cNvPr id="21" name="Text 19"/>
          <p:cNvSpPr/>
          <p:nvPr/>
        </p:nvSpPr>
        <p:spPr>
          <a:xfrm>
            <a:off x="9259214" y="2843784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weights + KV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424928" y="3570732"/>
            <a:ext cx="3851453" cy="627278"/>
          </a:xfrm>
          <a:prstGeom prst="roundRect">
            <a:avLst>
              <a:gd name="adj" fmla="val 7289"/>
            </a:avLst>
          </a:prstGeom>
          <a:solidFill>
            <a:srgbClr val="FFFFFF"/>
          </a:solidFill>
          <a:ln w="1143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4831" y="3570732"/>
            <a:ext cx="2157070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Disaggregated GPU Pools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9259214" y="3570732"/>
            <a:ext cx="1877263" cy="627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transfer link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2868473"/>
            <a:ext cx="3594506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2868473"/>
            <a:ext cx="2012594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Prompt Pass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3171139" y="2868473"/>
            <a:ext cx="1732788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KV state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424928" y="2341778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B · DECODE (MEMORY-BW-BOUND -&gt; ITL)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424928" y="4273906"/>
            <a:ext cx="385145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by HBM bandwidth at serving batch sizes</a:t>
            </a:r>
            <a:endParaRPr lang="en-US" sz="1370" dirty="0"/>
          </a:p>
        </p:txBody>
      </p:sp>
      <p:sp>
        <p:nvSpPr>
          <p:cNvPr id="30" name="Text 28"/>
          <p:cNvSpPr/>
          <p:nvPr/>
        </p:nvSpPr>
        <p:spPr>
          <a:xfrm>
            <a:off x="1449324" y="2341778"/>
            <a:ext cx="359450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A · PREFILL (COMPUTE-BOUND -&gt; TTFT)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449324" y="4348886"/>
            <a:ext cx="3594506" cy="401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prompts stall decode unless chunked</a:t>
            </a:r>
            <a:endParaRPr lang="en-US" sz="1310" dirty="0"/>
          </a:p>
        </p:txBody>
      </p:sp>
      <p:sp>
        <p:nvSpPr>
          <p:cNvPr id="32" name="Shape 30"/>
          <p:cNvSpPr/>
          <p:nvPr/>
        </p:nvSpPr>
        <p:spPr>
          <a:xfrm>
            <a:off x="1449324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EF3C7"/>
          </a:solidFill>
          <a:ln w="1143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49324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FLOP/Byte</a:t>
            </a:r>
            <a:endParaRPr lang="en-US" sz="1310" dirty="0"/>
          </a:p>
        </p:txBody>
      </p:sp>
      <p:sp>
        <p:nvSpPr>
          <p:cNvPr id="34" name="Shape 32"/>
          <p:cNvSpPr/>
          <p:nvPr/>
        </p:nvSpPr>
        <p:spPr>
          <a:xfrm>
            <a:off x="3293669" y="3646627"/>
            <a:ext cx="1750162" cy="651967"/>
          </a:xfrm>
          <a:prstGeom prst="roundRect">
            <a:avLst>
              <a:gd name="adj" fmla="val 7013"/>
            </a:avLst>
          </a:prstGeom>
          <a:solidFill>
            <a:srgbClr val="F3E8FF"/>
          </a:solidFill>
          <a:ln w="11430">
            <a:solidFill>
              <a:srgbClr val="D8B4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3669" y="3646627"/>
            <a:ext cx="1750162" cy="651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Cache</a:t>
            </a:r>
            <a:endParaRPr lang="en-US" sz="1310" dirty="0"/>
          </a:p>
        </p:txBody>
      </p:sp>
      <p:sp>
        <p:nvSpPr>
          <p:cNvPr id="36" name="Shape 34"/>
          <p:cNvSpPr/>
          <p:nvPr/>
        </p:nvSpPr>
        <p:spPr>
          <a:xfrm>
            <a:off x="6070702" y="2868473"/>
            <a:ext cx="630022" cy="63002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21578" y="3019349"/>
            <a:ext cx="327355" cy="327355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8562" y="3126334"/>
            <a:ext cx="113386" cy="11338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5861304" y="4273906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roofline</a:t>
            </a:r>
            <a:endParaRPr lang="en-US" sz="1370" dirty="0"/>
          </a:p>
        </p:txBody>
      </p:sp>
      <p:sp>
        <p:nvSpPr>
          <p:cNvPr id="40" name="Shape 38"/>
          <p:cNvSpPr/>
          <p:nvPr/>
        </p:nvSpPr>
        <p:spPr>
          <a:xfrm>
            <a:off x="422453" y="1388059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453" y="1388059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30" dirty="0"/>
          </a:p>
        </p:txBody>
      </p:sp>
      <p:sp>
        <p:nvSpPr>
          <p:cNvPr id="42" name="Shape 40"/>
          <p:cNvSpPr/>
          <p:nvPr/>
        </p:nvSpPr>
        <p:spPr>
          <a:xfrm>
            <a:off x="5183734" y="3546043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3" name="Shape 41"/>
          <p:cNvSpPr/>
          <p:nvPr/>
        </p:nvSpPr>
        <p:spPr>
          <a:xfrm>
            <a:off x="5261458" y="3386023"/>
            <a:ext cx="616306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5261458" y="3386023"/>
            <a:ext cx="6163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6701638" y="3546043"/>
            <a:ext cx="58338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T84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vs Decode + KV-Cache Math + Batching + Goodput SLO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10106863" cy="2710282"/>
          </a:xfrm>
          <a:prstGeom prst="roundRect">
            <a:avLst>
              <a:gd name="adj" fmla="val 1687"/>
            </a:avLst>
          </a:prstGeom>
          <a:solidFill>
            <a:srgbClr val="FAF5FF"/>
          </a:solidFill>
          <a:ln w="14288">
            <a:solidFill>
              <a:srgbClr val="D8B4F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FlashAttention, PagedAttention block tables, GQA, FP8 KV quantization, and chunked prefill to stop OOMs.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KV-Cache Math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bytes = 2 * L * T * H_KV * D_head * b — shrink traffic via GQA, Paged &amp; FlashAttention.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258154" y="2843784"/>
            <a:ext cx="2450592" cy="1405433"/>
          </a:xfrm>
          <a:prstGeom prst="roundRect">
            <a:avLst>
              <a:gd name="adj" fmla="val 3253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8154" y="2843784"/>
            <a:ext cx="2450592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+ CHUNKED PREFILL Interleave Prefill &amp; Decode</a:t>
            </a:r>
            <a:endParaRPr lang="en-US" sz="1310" dirty="0"/>
          </a:p>
        </p:txBody>
      </p:sp>
      <p:sp>
        <p:nvSpPr>
          <p:cNvPr id="20" name="Shape 18"/>
          <p:cNvSpPr/>
          <p:nvPr/>
        </p:nvSpPr>
        <p:spPr>
          <a:xfrm>
            <a:off x="9105595" y="2843784"/>
            <a:ext cx="2147011" cy="1405433"/>
          </a:xfrm>
          <a:prstGeom prst="roundRect">
            <a:avLst>
              <a:gd name="adj" fmla="val 3253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5595" y="2843784"/>
            <a:ext cx="2147011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DECODING Draft Propose · Target Verify</a:t>
            </a:r>
            <a:endParaRPr lang="en-US" sz="1310" dirty="0"/>
          </a:p>
        </p:txBody>
      </p:sp>
      <p:sp>
        <p:nvSpPr>
          <p:cNvPr id="22" name="Shape 20"/>
          <p:cNvSpPr/>
          <p:nvPr/>
        </p:nvSpPr>
        <p:spPr>
          <a:xfrm>
            <a:off x="1449324" y="2793492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89227" y="2793492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 + GQA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2739542" y="2793492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&lt;4% KV waste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1449324" y="3696919"/>
            <a:ext cx="2614270" cy="702259"/>
          </a:xfrm>
          <a:prstGeom prst="roundRect">
            <a:avLst>
              <a:gd name="adj" fmla="val 6510"/>
            </a:avLst>
          </a:prstGeom>
          <a:solidFill>
            <a:srgbClr val="F3E8FF"/>
          </a:solidFill>
          <a:ln w="14288">
            <a:solidFill>
              <a:srgbClr val="C084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9227" y="3696919"/>
            <a:ext cx="1463954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/ INT4 Quant</a:t>
            </a:r>
            <a:endParaRPr lang="en-US" sz="1290" dirty="0"/>
          </a:p>
        </p:txBody>
      </p:sp>
      <p:sp>
        <p:nvSpPr>
          <p:cNvPr id="27" name="Text 25"/>
          <p:cNvSpPr/>
          <p:nvPr/>
        </p:nvSpPr>
        <p:spPr>
          <a:xfrm>
            <a:off x="2739542" y="3696919"/>
            <a:ext cx="1184148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 HBM BW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1449324" y="2291486"/>
            <a:ext cx="291785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ATTENTION OPTIMIZATION</a:t>
            </a:r>
            <a:endParaRPr lang="en-US" sz="1190" dirty="0"/>
          </a:p>
        </p:txBody>
      </p:sp>
      <p:sp>
        <p:nvSpPr>
          <p:cNvPr id="29" name="Shape 27"/>
          <p:cNvSpPr/>
          <p:nvPr/>
        </p:nvSpPr>
        <p:spPr>
          <a:xfrm>
            <a:off x="4624121" y="2843784"/>
            <a:ext cx="653796" cy="65379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81398" y="3001061"/>
            <a:ext cx="340157" cy="340157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92040" y="3111703"/>
            <a:ext cx="117958" cy="11795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4425696" y="2316175"/>
            <a:ext cx="105064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kv-engine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F3E8FF"/>
          </a:solidFill>
          <a:ln w="14288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7E2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4063594" y="3144622"/>
            <a:ext cx="560527" cy="401422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 flipV="1">
            <a:off x="4063594" y="3546043"/>
            <a:ext cx="560527" cy="502006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5277917" y="3546043"/>
            <a:ext cx="980237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5282489" y="3386023"/>
            <a:ext cx="854050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39" name="Text 37"/>
          <p:cNvSpPr/>
          <p:nvPr/>
        </p:nvSpPr>
        <p:spPr>
          <a:xfrm>
            <a:off x="5282489" y="3386023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 flipH="1">
            <a:off x="4950562" y="4248302"/>
            <a:ext cx="2532888" cy="91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5472684" y="4088282"/>
            <a:ext cx="1489558" cy="219456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sp>
        <p:nvSpPr>
          <p:cNvPr id="42" name="Text 40"/>
          <p:cNvSpPr/>
          <p:nvPr/>
        </p:nvSpPr>
        <p:spPr>
          <a:xfrm>
            <a:off x="5472684" y="4088282"/>
            <a:ext cx="14895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verify loop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708746" y="3546043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T84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vs Decode + KV-Cache Math + Batching + Goodput SLO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size GPU/TPU fleets on raw aggregate tok/s — measure Goodput (requests/sec meeting both TTFT and TPOT SLOs).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09421" y="1212494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Tensor/Pipeline/Expert parallelism and gate capacity on SLO-compliant Goodput.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945929" y="1408176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16338" y="1408176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17013" y="1940357"/>
            <a:ext cx="2614270" cy="1405433"/>
          </a:xfrm>
          <a:prstGeom prst="roundRect">
            <a:avLst>
              <a:gd name="adj" fmla="val 3253"/>
            </a:avLst>
          </a:prstGeom>
          <a:solidFill>
            <a:srgbClr val="ECFDF5"/>
          </a:solidFill>
          <a:ln w="14288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7013" y="1940357"/>
            <a:ext cx="2614270" cy="1405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 GOODPUT &amp; TAIL GATE ☐ p99 TTFT &amp; ITL meet user SLO ☐ KV occupancy &lt; 85% cliff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2617013" y="4147718"/>
            <a:ext cx="2614270" cy="752551"/>
          </a:xfrm>
          <a:prstGeom prst="roundRect">
            <a:avLst>
              <a:gd name="adj" fmla="val 6075"/>
            </a:avLst>
          </a:prstGeom>
          <a:solidFill>
            <a:srgbClr val="D1FAE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17013" y="4147718"/>
            <a:ext cx="2614270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prefill / split pools</a:t>
            </a:r>
            <a:endParaRPr lang="en-US" sz="1310" dirty="0"/>
          </a:p>
        </p:txBody>
      </p:sp>
      <p:sp>
        <p:nvSpPr>
          <p:cNvPr id="21" name="Shape 19"/>
          <p:cNvSpPr/>
          <p:nvPr/>
        </p:nvSpPr>
        <p:spPr>
          <a:xfrm>
            <a:off x="6118250" y="2241194"/>
            <a:ext cx="2193646" cy="802843"/>
          </a:xfrm>
          <a:prstGeom prst="roundRect">
            <a:avLst>
              <a:gd name="adj" fmla="val 569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18250" y="2241194"/>
            <a:ext cx="219364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Goodput SLO met?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9245498" y="2241194"/>
            <a:ext cx="2170786" cy="802843"/>
          </a:xfrm>
          <a:prstGeom prst="roundRect">
            <a:avLst>
              <a:gd name="adj" fmla="val 5695"/>
            </a:avLst>
          </a:prstGeom>
          <a:solidFill>
            <a:srgbClr val="0F172A"/>
          </a:solidFill>
          <a:ln w="14288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45498" y="2241194"/>
            <a:ext cx="2170786" cy="8028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High Goodput</a:t>
            </a:r>
            <a:endParaRPr lang="en-US" sz="1310" dirty="0"/>
          </a:p>
        </p:txBody>
      </p:sp>
      <p:sp>
        <p:nvSpPr>
          <p:cNvPr id="25" name="Shape 23"/>
          <p:cNvSpPr/>
          <p:nvPr/>
        </p:nvSpPr>
        <p:spPr>
          <a:xfrm>
            <a:off x="6118250" y="4147718"/>
            <a:ext cx="2193646" cy="752551"/>
          </a:xfrm>
          <a:prstGeom prst="roundRect">
            <a:avLst>
              <a:gd name="adj" fmla="val 6075"/>
            </a:avLst>
          </a:prstGeom>
          <a:solidFill>
            <a:srgbClr val="ECFDF5"/>
          </a:solidFill>
          <a:ln w="14288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8250" y="4147718"/>
            <a:ext cx="219364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eviction thrashing?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245498" y="4147718"/>
            <a:ext cx="2170786" cy="752551"/>
          </a:xfrm>
          <a:prstGeom prst="roundRect">
            <a:avLst>
              <a:gd name="adj" fmla="val 6075"/>
            </a:avLst>
          </a:prstGeom>
          <a:solidFill>
            <a:srgbClr val="FFF7ED"/>
          </a:solidFill>
          <a:ln w="14288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45498" y="4147718"/>
            <a:ext cx="2170786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Autoscale / Shed Load</a:t>
            </a:r>
            <a:endParaRPr lang="en-US" sz="1310" dirty="0"/>
          </a:p>
        </p:txBody>
      </p:sp>
      <p:sp>
        <p:nvSpPr>
          <p:cNvPr id="29" name="Shape 27"/>
          <p:cNvSpPr/>
          <p:nvPr/>
        </p:nvSpPr>
        <p:spPr>
          <a:xfrm>
            <a:off x="1613002" y="1990649"/>
            <a:ext cx="607162" cy="607162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58391" y="2136038"/>
            <a:ext cx="315468" cy="315468"/>
          </a:xfrm>
          <a:prstGeom prst="ellipse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61718" y="2239366"/>
            <a:ext cx="109728" cy="1097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30"/>
          <p:cNvSpPr/>
          <p:nvPr/>
        </p:nvSpPr>
        <p:spPr>
          <a:xfrm>
            <a:off x="1507846" y="3344875"/>
            <a:ext cx="816559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7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370" dirty="0"/>
          </a:p>
        </p:txBody>
      </p:sp>
      <p:sp>
        <p:nvSpPr>
          <p:cNvPr id="33" name="Shape 31"/>
          <p:cNvSpPr/>
          <p:nvPr/>
        </p:nvSpPr>
        <p:spPr>
          <a:xfrm>
            <a:off x="422453" y="1212494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CFCE7"/>
          </a:solidFill>
          <a:ln w="14288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3" y="1212494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30" dirty="0"/>
          </a:p>
        </p:txBody>
      </p:sp>
      <p:sp>
        <p:nvSpPr>
          <p:cNvPr id="35" name="Shape 33"/>
          <p:cNvSpPr/>
          <p:nvPr/>
        </p:nvSpPr>
        <p:spPr>
          <a:xfrm>
            <a:off x="2220163" y="2642616"/>
            <a:ext cx="396850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6" name="Shape 34"/>
          <p:cNvSpPr/>
          <p:nvPr/>
        </p:nvSpPr>
        <p:spPr>
          <a:xfrm>
            <a:off x="5231282" y="2642616"/>
            <a:ext cx="886968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37" name="Shape 35"/>
          <p:cNvSpPr/>
          <p:nvPr/>
        </p:nvSpPr>
        <p:spPr>
          <a:xfrm>
            <a:off x="8311896" y="2642616"/>
            <a:ext cx="933602" cy="914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8440826" y="2495398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440826" y="2495398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0" name="Shape 38"/>
          <p:cNvSpPr/>
          <p:nvPr/>
        </p:nvSpPr>
        <p:spPr>
          <a:xfrm>
            <a:off x="7214616" y="3044038"/>
            <a:ext cx="914" cy="1103681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6933895" y="3335731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933895" y="3335731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3" name="Shape 41"/>
          <p:cNvSpPr/>
          <p:nvPr/>
        </p:nvSpPr>
        <p:spPr>
          <a:xfrm>
            <a:off x="8311896" y="4524451"/>
            <a:ext cx="933602" cy="914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440826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440826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70" dirty="0"/>
          </a:p>
        </p:txBody>
      </p:sp>
      <p:sp>
        <p:nvSpPr>
          <p:cNvPr id="46" name="Shape 44"/>
          <p:cNvSpPr/>
          <p:nvPr/>
        </p:nvSpPr>
        <p:spPr>
          <a:xfrm flipH="1">
            <a:off x="5231282" y="4524451"/>
            <a:ext cx="886968" cy="914"/>
          </a:xfrm>
          <a:prstGeom prst="line">
            <a:avLst/>
          </a:prstGeom>
          <a:noFill/>
          <a:ln w="16256">
            <a:solidFill>
              <a:srgbClr val="10B981"/>
            </a:solidFill>
            <a:prstDash val="solid"/>
            <a:tailEnd type="triangle" w="sm" len="sm"/>
          </a:ln>
        </p:spPr>
      </p:sp>
      <p:sp>
        <p:nvSpPr>
          <p:cNvPr id="47" name="Shape 45"/>
          <p:cNvSpPr/>
          <p:nvPr/>
        </p:nvSpPr>
        <p:spPr>
          <a:xfrm>
            <a:off x="5452567" y="4377233"/>
            <a:ext cx="560527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452567" y="4377233"/>
            <a:ext cx="5605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70" dirty="0"/>
          </a:p>
        </p:txBody>
      </p:sp>
      <p:sp>
        <p:nvSpPr>
          <p:cNvPr id="49" name="Shape 47"/>
          <p:cNvSpPr/>
          <p:nvPr/>
        </p:nvSpPr>
        <p:spPr>
          <a:xfrm flipH="1" flipV="1">
            <a:off x="1613002" y="2642616"/>
            <a:ext cx="1004011" cy="1881835"/>
          </a:xfrm>
          <a:prstGeom prst="line">
            <a:avLst/>
          </a:prstGeom>
          <a:noFill/>
          <a:ln w="20320">
            <a:solidFill>
              <a:srgbClr val="10B981"/>
            </a:solidFill>
            <a:prstDash val="solid"/>
            <a:tailEnd type="triangl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T84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vs Decode + KV-Cache Math + Batching + Goodput SLO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1052474" y="1137514"/>
            <a:ext cx="10619842" cy="5169103"/>
          </a:xfrm>
          <a:prstGeom prst="roundRect">
            <a:avLst>
              <a:gd name="adj" fmla="val 884"/>
            </a:avLst>
          </a:prstGeom>
          <a:solidFill>
            <a:srgbClr val="FFFFFF"/>
          </a:solidFill>
          <a:ln w="14288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9421" y="2190902"/>
            <a:ext cx="5042002" cy="2609698"/>
          </a:xfrm>
          <a:prstGeom prst="roundRect">
            <a:avLst>
              <a:gd name="adj" fmla="val 1752"/>
            </a:avLst>
          </a:prstGeom>
          <a:solidFill>
            <a:srgbClr val="F8FAFC"/>
          </a:solidFill>
          <a:ln w="14288">
            <a:solidFill>
              <a:srgbClr val="93C5FD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7401154" y="2190902"/>
            <a:ext cx="4015130" cy="2609698"/>
          </a:xfrm>
          <a:prstGeom prst="roundRect">
            <a:avLst>
              <a:gd name="adj" fmla="val 1752"/>
            </a:avLst>
          </a:prstGeom>
          <a:solidFill>
            <a:srgbClr val="FFFFFF"/>
          </a:solidFill>
          <a:ln w="14288">
            <a:solidFill>
              <a:srgbClr val="93C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09421" y="5101438"/>
            <a:ext cx="10106863" cy="903427"/>
          </a:xfrm>
          <a:prstGeom prst="roundRect">
            <a:avLst>
              <a:gd name="adj" fmla="val 506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9324" y="5101438"/>
            <a:ext cx="126004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2709367" y="5101438"/>
            <a:ext cx="8217713" cy="903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TTFT -&gt; fix queueing/prefill chunking; High TPOT -&gt; cut HBM KV traffic; OOM -&gt; quantize KV + PagedAttention.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11020349" y="5425135"/>
            <a:ext cx="256032" cy="25603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0349" y="54251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64831" y="3276295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64831" y="2767889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TTFT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81898" y="2958084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1898" y="2958084"/>
            <a:ext cx="1224382" cy="128016"/>
          </a:xfrm>
          <a:prstGeom prst="roundRect">
            <a:avLst>
              <a:gd name="adj" fmla="val 142857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146182" y="2767889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Prefill + Prefix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564831" y="3783787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4831" y="3276295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ITL/TPOT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781898" y="3466490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8781898" y="3466490"/>
            <a:ext cx="1277417" cy="128016"/>
          </a:xfrm>
          <a:prstGeom prst="roundRect">
            <a:avLst>
              <a:gd name="adj" fmla="val 142857"/>
            </a:avLst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10146182" y="3276295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KV + Speculative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564831" y="4292194"/>
            <a:ext cx="3687775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4831" y="3784702"/>
            <a:ext cx="1217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Metric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8781898" y="3973982"/>
            <a:ext cx="1364285" cy="128016"/>
          </a:xfrm>
          <a:prstGeom prst="roundRect">
            <a:avLst>
              <a:gd name="adj" fmla="val 142857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10146182" y="3784702"/>
            <a:ext cx="1106424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 Goodput (p99)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564831" y="4292194"/>
            <a:ext cx="1327709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892540" y="4292194"/>
            <a:ext cx="2360066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GKE TPU/GPU + Vertex • vLLM / SGLang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1309421" y="1337767"/>
            <a:ext cx="854049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Goodput SLO   </a:t>
            </a:r>
            <a:pPr indent="0" marL="0">
              <a:buNone/>
            </a:pPr>
            <a:r>
              <a:rPr lang="en-US" sz="126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throughput vanity metrics vs. Roofline-grounded Inference Engineering diagnosis.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9945929" y="1533449"/>
            <a:ext cx="1470355" cy="310896"/>
          </a:xfrm>
          <a:prstGeom prst="roundRect">
            <a:avLst>
              <a:gd name="adj" fmla="val 58824"/>
            </a:avLst>
          </a:prstGeom>
          <a:solidFill>
            <a:srgbClr val="ECFDF5"/>
          </a:solidFill>
          <a:ln w="10795">
            <a:solidFill>
              <a:srgbClr val="6EE7B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16338" y="1533449"/>
            <a:ext cx="13304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PROOF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7401154" y="2190902"/>
            <a:ext cx="4015130" cy="576986"/>
          </a:xfrm>
          <a:prstGeom prst="roundRect">
            <a:avLst>
              <a:gd name="adj" fmla="val 7924"/>
            </a:avLst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1154" y="2190902"/>
            <a:ext cx="4015130" cy="576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ENGINEERING · FAST DIAGNOSIS</a:t>
            </a:r>
            <a:endParaRPr lang="en-US" sz="1310" dirty="0"/>
          </a:p>
        </p:txBody>
      </p:sp>
      <p:sp>
        <p:nvSpPr>
          <p:cNvPr id="38" name="Text 36"/>
          <p:cNvSpPr/>
          <p:nvPr/>
        </p:nvSpPr>
        <p:spPr>
          <a:xfrm>
            <a:off x="1449324" y="2291486"/>
            <a:ext cx="274228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BOTTLENECK SYMPTOMS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853282" y="2291486"/>
            <a:ext cx="2334463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tok/s can still starve TTFT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717390" y="3044038"/>
            <a:ext cx="1470355" cy="702259"/>
          </a:xfrm>
          <a:prstGeom prst="roundRect">
            <a:avLst>
              <a:gd name="adj" fmla="val 6510"/>
            </a:avLst>
          </a:prstGeom>
          <a:solidFill>
            <a:srgbClr val="FFFFFF"/>
          </a:solidFill>
          <a:ln w="14288">
            <a:solidFill>
              <a:srgbClr val="94A3B8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17390" y="3044038"/>
            <a:ext cx="1470355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raw_tok_per_sec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449324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49324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Queueing Delay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449324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49324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Fragmentation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3129991" y="2843784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29991" y="2843784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 All-Reduce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3129991" y="3846881"/>
            <a:ext cx="1377086" cy="702259"/>
          </a:xfrm>
          <a:prstGeom prst="roundRect">
            <a:avLst>
              <a:gd name="adj" fmla="val 6510"/>
            </a:avLst>
          </a:prstGeom>
          <a:solidFill>
            <a:srgbClr val="DBEAFE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29991" y="3846881"/>
            <a:ext cx="1377086" cy="702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 Imbalance</a:t>
            </a:r>
            <a:endParaRPr lang="en-US" sz="1310" dirty="0"/>
          </a:p>
        </p:txBody>
      </p:sp>
      <p:sp>
        <p:nvSpPr>
          <p:cNvPr id="50" name="Text 48"/>
          <p:cNvSpPr/>
          <p:nvPr/>
        </p:nvSpPr>
        <p:spPr>
          <a:xfrm>
            <a:off x="4869180" y="3846881"/>
            <a:ext cx="1166774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ignores p99 TTFT</a:t>
            </a:r>
            <a:endParaRPr lang="en-US" sz="1310" dirty="0"/>
          </a:p>
        </p:txBody>
      </p:sp>
      <p:sp>
        <p:nvSpPr>
          <p:cNvPr id="51" name="Shape 49"/>
          <p:cNvSpPr/>
          <p:nvPr/>
        </p:nvSpPr>
        <p:spPr>
          <a:xfrm>
            <a:off x="422453" y="1337767"/>
            <a:ext cx="443484" cy="326441"/>
          </a:xfrm>
          <a:prstGeom prst="roundRect">
            <a:avLst>
              <a:gd name="adj" fmla="val 14006"/>
            </a:avLst>
          </a:prstGeom>
          <a:solidFill>
            <a:srgbClr val="DBEAFE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2453" y="1337767"/>
            <a:ext cx="443484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30" dirty="0"/>
          </a:p>
        </p:txBody>
      </p:sp>
      <p:sp>
        <p:nvSpPr>
          <p:cNvPr id="53" name="Shape 51"/>
          <p:cNvSpPr/>
          <p:nvPr/>
        </p:nvSpPr>
        <p:spPr>
          <a:xfrm>
            <a:off x="2826410" y="3194914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4" name="Shape 52"/>
          <p:cNvSpPr/>
          <p:nvPr/>
        </p:nvSpPr>
        <p:spPr>
          <a:xfrm>
            <a:off x="2137867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2826410" y="4198010"/>
            <a:ext cx="303581" cy="914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818534" y="3546043"/>
            <a:ext cx="914" cy="300838"/>
          </a:xfrm>
          <a:prstGeom prst="line">
            <a:avLst/>
          </a:prstGeom>
          <a:noFill/>
          <a:ln w="14224">
            <a:solidFill>
              <a:srgbClr val="64748B"/>
            </a:solidFill>
            <a:prstDash val="solid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8" name="Shape 56"/>
          <p:cNvSpPr/>
          <p:nvPr/>
        </p:nvSpPr>
        <p:spPr>
          <a:xfrm flipV="1">
            <a:off x="2826410" y="3546043"/>
            <a:ext cx="303581" cy="300838"/>
          </a:xfrm>
          <a:prstGeom prst="line">
            <a:avLst/>
          </a:prstGeom>
          <a:noFill/>
          <a:ln w="13208">
            <a:solidFill>
              <a:srgbClr val="64748B"/>
            </a:solidFill>
            <a:prstDash val="solid"/>
            <a:tailEnd type="none"/>
          </a:ln>
        </p:spPr>
      </p:sp>
      <p:sp>
        <p:nvSpPr>
          <p:cNvPr id="59" name="Shape 57"/>
          <p:cNvSpPr/>
          <p:nvPr/>
        </p:nvSpPr>
        <p:spPr>
          <a:xfrm>
            <a:off x="6351422" y="3495751"/>
            <a:ext cx="1049731" cy="914"/>
          </a:xfrm>
          <a:prstGeom prst="line">
            <a:avLst/>
          </a:prstGeom>
          <a:noFill/>
          <a:ln w="16256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0" name="Shape 58"/>
          <p:cNvSpPr/>
          <p:nvPr/>
        </p:nvSpPr>
        <p:spPr>
          <a:xfrm>
            <a:off x="6390742" y="3335731"/>
            <a:ext cx="85405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390742" y="3335731"/>
            <a:ext cx="8540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</a:t>
            </a:r>
            <a:endParaRPr lang="en-US" sz="11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T84 — Inference Engineering Roofline &amp; Goodput Spine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2026-10-29T13:43:56Z</dcterms:created>
  <dcterms:modified xsi:type="dcterms:W3CDTF">2026-10-29T13:43:56Z</dcterms:modified>
</cp:coreProperties>
</file>