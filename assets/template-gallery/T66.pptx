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T66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#65: 4-Tier Capability Pyramid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8790" y="1369771"/>
            <a:ext cx="3212287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Pyramid The evolution of Google Cloud agents from raw inference to fully autonomous systems TIERS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AGENT ARCHITECTURE GUIDE • VERTEX AI AGENT PATTERNS • GCP 2026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643323" y="3041294"/>
            <a:ext cx="975665" cy="772668"/>
          </a:xfrm>
          <a:prstGeom prst="roundRect">
            <a:avLst>
              <a:gd name="adj" fmla="val 5917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3323" y="3041294"/>
            <a:ext cx="975665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MULTI-AGENT COLLABORATION COOPERATIVE Orchestrating specialized teams passing tasks, debating solutions, and managing shared context. • Manager-worker dynamic routing • Shared state persistence &amp; memory • Agent2Agent (A2A) handoffs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643323" y="3910889"/>
            <a:ext cx="975665" cy="772668"/>
          </a:xfrm>
          <a:prstGeom prst="roundRect">
            <a:avLst>
              <a:gd name="adj" fmla="val 5917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3323" y="3910889"/>
            <a:ext cx="975665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TOOL CALLING INTERACTIVE Models interact natively with environments, executing code, using APIs, and navigating databases. • API integrations &amp; Skill Plugins • Computer-use &amp; sandboxed runtimes (GKE) • Model Context Protocol (MCP)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643323" y="2200961"/>
            <a:ext cx="975665" cy="763524"/>
          </a:xfrm>
          <a:prstGeom prst="roundRect">
            <a:avLst>
              <a:gd name="adj" fmla="val 5988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323" y="2200961"/>
            <a:ext cx="97566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AUTONOMOUS AGENT GOAL-DRIVEN Operates on open-ended objectives, self-evaluates success, and automatically resolves errors. • Self-healing validation loops • Continuous 24/7 self-directed task resolution • Long-horizon goal planning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43323" y="4789627"/>
            <a:ext cx="975665" cy="744322"/>
          </a:xfrm>
          <a:prstGeom prst="roundRect">
            <a:avLst>
              <a:gd name="adj" fmla="val 6143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3323" y="4789627"/>
            <a:ext cx="97566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BASE GEMINI RAW INFERENCE Standard foundation model reasoning based entirely on input prompts, text generation, and in-context data. • Chain-of-thought (CoT) planning • Natural language understanding • Few-shot prompting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700723" y="3195828"/>
            <a:ext cx="840334" cy="492862"/>
          </a:xfrm>
          <a:prstGeom prst="roundRect">
            <a:avLst>
              <a:gd name="adj" fmla="val 9276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0723" y="3195828"/>
            <a:ext cx="840334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Multi-agent frameworks (LangGraph, CrewAI, AutoGen) • Collaborative routing • Agent communication protocols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662318" y="2403958"/>
            <a:ext cx="878738" cy="444398"/>
          </a:xfrm>
          <a:prstGeom prst="roundRect">
            <a:avLst>
              <a:gd name="adj" fmla="val 10288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2318" y="2403958"/>
            <a:ext cx="87873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Gemini Enterprise Agent Platform • Agent Engine • Autonomously schedules, executes, and heals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758330" y="4036162"/>
            <a:ext cx="782726" cy="482803"/>
          </a:xfrm>
          <a:prstGeom prst="roundRect">
            <a:avLst>
              <a:gd name="adj" fmla="val 9470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8330" y="4036162"/>
            <a:ext cx="78272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Dynamic function calling • Sandboxed execution (microVMs) • DB &amp; web search (Vertex AI Search)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806794" y="4867351"/>
            <a:ext cx="734263" cy="512064"/>
          </a:xfrm>
          <a:prstGeom prst="roundRect">
            <a:avLst>
              <a:gd name="adj" fmla="val 8929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6794" y="4867351"/>
            <a:ext cx="73426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Gemini foundation models • Real-time reasoning • Model evaluation • Standard multi-modal processing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377379" y="2277770"/>
            <a:ext cx="251460" cy="232258"/>
          </a:xfrm>
          <a:prstGeom prst="roundRect">
            <a:avLst>
              <a:gd name="adj" fmla="val 19685"/>
            </a:avLst>
          </a:prstGeom>
          <a:solidFill>
            <a:srgbClr val="D1F2D9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7379" y="3079699"/>
            <a:ext cx="251460" cy="232258"/>
          </a:xfrm>
          <a:prstGeom prst="roundRect">
            <a:avLst>
              <a:gd name="adj" fmla="val 19685"/>
            </a:avLst>
          </a:prstGeom>
          <a:solidFill>
            <a:srgbClr val="FEF0C7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7379" y="3920033"/>
            <a:ext cx="251460" cy="232258"/>
          </a:xfrm>
          <a:prstGeom prst="roundRect">
            <a:avLst>
              <a:gd name="adj" fmla="val 19685"/>
            </a:avLst>
          </a:prstGeom>
          <a:solidFill>
            <a:srgbClr val="FADBD4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77379" y="4751222"/>
            <a:ext cx="251460" cy="232258"/>
          </a:xfrm>
          <a:prstGeom prst="roundRect">
            <a:avLst>
              <a:gd name="adj" fmla="val 19685"/>
            </a:avLst>
          </a:prstGeom>
          <a:solidFill>
            <a:srgbClr val="D8E6FC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T66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#65: 4-Tier Capability Pyramid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027932" y="638251"/>
            <a:ext cx="4084625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Pyramid The evolution of Google Cloud agents from raw inference to fully autonomous systems TIERS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AGENT ARCHITECTURE GUIDE • VERTEX AI AGENT PATTERNS • GCP 2026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24528" y="2763317"/>
            <a:ext cx="1240841" cy="982980"/>
          </a:xfrm>
          <a:prstGeom prst="roundRect">
            <a:avLst>
              <a:gd name="adj" fmla="val 4651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763317"/>
            <a:ext cx="124084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MULTI-AGENT COLLABORATION COOPERATIVE Orchestrating specialized teams passing tasks, debating solutions, and managing shared context. • Manager-worker dynamic routing • Shared state persistence &amp; memory • Agent2Agent (A2A) handoffs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224528" y="3868826"/>
            <a:ext cx="1240841" cy="982980"/>
          </a:xfrm>
          <a:prstGeom prst="roundRect">
            <a:avLst>
              <a:gd name="adj" fmla="val 4651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3868826"/>
            <a:ext cx="124084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TOOL CALLING INTERACTIVE Models interact natively with environments, executing code, using APIs, and navigating databases. • API integrations &amp; Skill Plugins • Computer-use &amp; sandboxed runtimes (GKE) • Model Context Protocol (MCP)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24528" y="1694383"/>
            <a:ext cx="1240841" cy="970178"/>
          </a:xfrm>
          <a:prstGeom prst="roundRect">
            <a:avLst>
              <a:gd name="adj" fmla="val 4713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694383"/>
            <a:ext cx="1240841" cy="97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AUTONOMOUS AGENT GOAL-DRIVEN Operates on open-ended objectives, self-evaluates success, and automatically resolves errors. • Self-healing validation loops • Continuous 24/7 self-directed task resolution • Long-horizon goal planning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224528" y="4987138"/>
            <a:ext cx="1240841" cy="945490"/>
          </a:xfrm>
          <a:prstGeom prst="roundRect">
            <a:avLst>
              <a:gd name="adj" fmla="val 4836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4987138"/>
            <a:ext cx="1240841" cy="94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BASE GEMINI RAW INFERENCE Standard foundation model reasoning based entirely on input prompts, text generation, and in-context data. • Chain-of-thought (CoT) planning • Natural language understanding • Few-shot prompting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840626" y="2959913"/>
            <a:ext cx="1068934" cy="626364"/>
          </a:xfrm>
          <a:prstGeom prst="roundRect">
            <a:avLst>
              <a:gd name="adj" fmla="val 7299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0626" y="2959913"/>
            <a:ext cx="106893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Multi-agent frameworks (LangGraph, CrewAI, AutoGen) • Collaborative routing • Agent communication protocols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791249" y="1953158"/>
            <a:ext cx="1117397" cy="565099"/>
          </a:xfrm>
          <a:prstGeom prst="roundRect">
            <a:avLst>
              <a:gd name="adj" fmla="val 8091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1249" y="1953158"/>
            <a:ext cx="1117397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Gemini Enterprise Agent Platform • Agent Engine • Autonomously schedules, executes, and heals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914693" y="4028846"/>
            <a:ext cx="994867" cy="614477"/>
          </a:xfrm>
          <a:prstGeom prst="roundRect">
            <a:avLst>
              <a:gd name="adj" fmla="val 7440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4693" y="4028846"/>
            <a:ext cx="9948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Dynamic function calling • Sandboxed execution (microVMs) • DB &amp; web search (Vertex AI Search)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975958" y="5084978"/>
            <a:ext cx="933602" cy="651053"/>
          </a:xfrm>
          <a:prstGeom prst="roundRect">
            <a:avLst>
              <a:gd name="adj" fmla="val 7022"/>
            </a:avLst>
          </a:prstGeom>
          <a:solidFill>
            <a:srgbClr val="FAF8F2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5958" y="5084978"/>
            <a:ext cx="93360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 • Gemini foundation models • Real-time reasoning • Model evaluation • Standard multi-modal processing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700162" y="1793138"/>
            <a:ext cx="319126" cy="294437"/>
          </a:xfrm>
          <a:prstGeom prst="roundRect">
            <a:avLst>
              <a:gd name="adj" fmla="val 15528"/>
            </a:avLst>
          </a:prstGeom>
          <a:solidFill>
            <a:srgbClr val="D1F2D9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0162" y="2812694"/>
            <a:ext cx="319126" cy="294437"/>
          </a:xfrm>
          <a:prstGeom prst="roundRect">
            <a:avLst>
              <a:gd name="adj" fmla="val 15528"/>
            </a:avLst>
          </a:prstGeom>
          <a:solidFill>
            <a:srgbClr val="FEF0C7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0162" y="3881628"/>
            <a:ext cx="319126" cy="294437"/>
          </a:xfrm>
          <a:prstGeom prst="roundRect">
            <a:avLst>
              <a:gd name="adj" fmla="val 15528"/>
            </a:avLst>
          </a:prstGeom>
          <a:solidFill>
            <a:srgbClr val="FADBD4"/>
          </a:solidFill>
          <a:ln w="12383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00162" y="4937760"/>
            <a:ext cx="319126" cy="294437"/>
          </a:xfrm>
          <a:prstGeom prst="roundRect">
            <a:avLst>
              <a:gd name="adj" fmla="val 15528"/>
            </a:avLst>
          </a:prstGeom>
          <a:solidFill>
            <a:srgbClr val="D8E6FC"/>
          </a:solidFill>
          <a:ln w="12383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T66 — PromptCanvas #65: 4-Tier Capability Pyramid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2026-10-22T04:34:36Z</dcterms:created>
  <dcterms:modified xsi:type="dcterms:W3CDTF">2026-10-22T04:34:36Z</dcterms:modified>
</cp:coreProperties>
</file>