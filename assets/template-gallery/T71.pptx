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1225296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2331720" cy="237744"/>
          </a:xfrm>
          <a:prstGeom prst="roundRect">
            <a:avLst>
              <a:gd name="adj" fmla="val 76923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512064" y="32918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BLUEPRINT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7635240" y="329184"/>
            <a:ext cx="4041648" cy="237744"/>
          </a:xfrm>
          <a:prstGeom prst="roundRect">
            <a:avLst>
              <a:gd name="adj" fmla="val 76923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32918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ADK + VERTEX AI • OPENHANDS + LANGGRAPH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512064" y="62179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+ Meaning + Consumption + Medallion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12064" y="104241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Modeling Map: Three Questions, Three Tracks. How storage, semantics, and AI consumption align, with prompts to try.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10160">
            <a:solidFill>
              <a:srgbClr val="FCA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  •  SLIDE 02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58061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1858061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475488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Track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2068373" y="2468880"/>
            <a:ext cx="777240" cy="18288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2068373" y="24688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entities</a:t>
            </a:r>
            <a:endParaRPr lang="en-US" sz="740" dirty="0"/>
          </a:p>
        </p:txBody>
      </p:sp>
      <p:sp>
        <p:nvSpPr>
          <p:cNvPr id="20" name="Text 18"/>
          <p:cNvSpPr/>
          <p:nvPr/>
        </p:nvSpPr>
        <p:spPr>
          <a:xfrm>
            <a:off x="1060704" y="2487168"/>
            <a:ext cx="9893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Conceptual Model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687982" y="3261665"/>
            <a:ext cx="914" cy="164592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  <a:tailEnd type="triangle" w="sm" len="sm"/>
          </a:ln>
        </p:spPr>
      </p:sp>
      <p:sp>
        <p:nvSpPr>
          <p:cNvPr id="22" name="Shape 20"/>
          <p:cNvSpPr/>
          <p:nvPr/>
        </p:nvSpPr>
        <p:spPr>
          <a:xfrm>
            <a:off x="457200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2068373" y="3517697"/>
            <a:ext cx="777240" cy="18288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2068373" y="3517697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cleaned &amp; conformed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060704" y="3535985"/>
            <a:ext cx="9893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 → Silver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687982" y="4310482"/>
            <a:ext cx="914" cy="164592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  <a:tailEnd type="triangle" w="sm" len="sm"/>
          </a:ln>
        </p:spPr>
      </p:sp>
      <p:sp>
        <p:nvSpPr>
          <p:cNvPr id="29" name="Shape 27"/>
          <p:cNvSpPr/>
          <p:nvPr/>
        </p:nvSpPr>
        <p:spPr>
          <a:xfrm>
            <a:off x="457200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1060704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Model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Map our Conceptual, Logical, and Physical models across Bronze, Silver, and Gold tabl...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3074213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6" name="Shape 34"/>
          <p:cNvSpPr/>
          <p:nvPr/>
        </p:nvSpPr>
        <p:spPr>
          <a:xfrm>
            <a:off x="3266237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66237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EFF6FF"/>
          </a:solidFill>
          <a:ln w="10160">
            <a:solidFill>
              <a:srgbClr val="93C5F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94253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  •  SLIDE 03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95114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9333EA"/>
          </a:solidFill>
          <a:ln/>
        </p:spPr>
      </p:sp>
      <p:sp>
        <p:nvSpPr>
          <p:cNvPr id="40" name="Text 38"/>
          <p:cNvSpPr/>
          <p:nvPr/>
        </p:nvSpPr>
        <p:spPr>
          <a:xfrm>
            <a:off x="4795114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3412541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 Track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394253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03981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9333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03981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5005426" y="2468880"/>
            <a:ext cx="777240" cy="18288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/>
        </p:spPr>
      </p:sp>
      <p:sp>
        <p:nvSpPr>
          <p:cNvPr id="46" name="Text 44"/>
          <p:cNvSpPr/>
          <p:nvPr/>
        </p:nvSpPr>
        <p:spPr>
          <a:xfrm>
            <a:off x="5005426" y="24688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terms</a:t>
            </a:r>
            <a:endParaRPr lang="en-US" sz="740" dirty="0"/>
          </a:p>
        </p:txBody>
      </p:sp>
      <p:sp>
        <p:nvSpPr>
          <p:cNvPr id="47" name="Text 45"/>
          <p:cNvSpPr/>
          <p:nvPr/>
        </p:nvSpPr>
        <p:spPr>
          <a:xfrm>
            <a:off x="3997757" y="2487168"/>
            <a:ext cx="9893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Glossary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25035" y="3261665"/>
            <a:ext cx="914" cy="164592"/>
          </a:xfrm>
          <a:prstGeom prst="line">
            <a:avLst/>
          </a:prstGeom>
          <a:noFill/>
          <a:ln w="19050">
            <a:solidFill>
              <a:srgbClr val="9333EA"/>
            </a:solidFill>
            <a:prstDash val="solid"/>
            <a:tailEnd type="triangle" w="sm" len="sm"/>
          </a:ln>
        </p:spPr>
      </p:sp>
      <p:sp>
        <p:nvSpPr>
          <p:cNvPr id="49" name="Shape 47"/>
          <p:cNvSpPr/>
          <p:nvPr/>
        </p:nvSpPr>
        <p:spPr>
          <a:xfrm>
            <a:off x="3394253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503981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9333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03981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52" name="Text 50"/>
          <p:cNvSpPr/>
          <p:nvPr/>
        </p:nvSpPr>
        <p:spPr>
          <a:xfrm>
            <a:off x="3997757" y="3535985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GRAPH Entities · Links · Con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625035" y="4310482"/>
            <a:ext cx="914" cy="164592"/>
          </a:xfrm>
          <a:prstGeom prst="line">
            <a:avLst/>
          </a:prstGeom>
          <a:noFill/>
          <a:ln w="19050">
            <a:solidFill>
              <a:srgbClr val="9333EA"/>
            </a:solidFill>
            <a:prstDash val="solid"/>
            <a:tailEnd type="triangle" w="sm" len="sm"/>
          </a:ln>
        </p:spPr>
      </p:sp>
      <p:sp>
        <p:nvSpPr>
          <p:cNvPr id="54" name="Shape 52"/>
          <p:cNvSpPr/>
          <p:nvPr/>
        </p:nvSpPr>
        <p:spPr>
          <a:xfrm>
            <a:off x="3394253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503981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9333E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503981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57" name="Text 55"/>
          <p:cNvSpPr/>
          <p:nvPr/>
        </p:nvSpPr>
        <p:spPr>
          <a:xfrm>
            <a:off x="3997757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FOUNDATION Catalog · Lineage · Co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394253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467405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Bind every Physical Gold column to our Business Glossary and Ontology so agents never...</a:t>
            </a:r>
            <a:endParaRPr lang="en-US" sz="740" dirty="0"/>
          </a:p>
        </p:txBody>
      </p:sp>
      <p:sp>
        <p:nvSpPr>
          <p:cNvPr id="60" name="Shape 58"/>
          <p:cNvSpPr/>
          <p:nvPr/>
        </p:nvSpPr>
        <p:spPr>
          <a:xfrm>
            <a:off x="6011266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61" name="Shape 59"/>
          <p:cNvSpPr/>
          <p:nvPr/>
        </p:nvSpPr>
        <p:spPr>
          <a:xfrm>
            <a:off x="6203290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203290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ECFDF5"/>
          </a:solidFill>
          <a:ln w="10160">
            <a:solidFill>
              <a:srgbClr val="6EE7B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31306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  •  SLIDE 04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732166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059669"/>
          </a:solidFill>
          <a:ln/>
        </p:spPr>
      </p:sp>
      <p:sp>
        <p:nvSpPr>
          <p:cNvPr id="65" name="Text 63"/>
          <p:cNvSpPr/>
          <p:nvPr/>
        </p:nvSpPr>
        <p:spPr>
          <a:xfrm>
            <a:off x="7732166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GAUGE PROOF</a:t>
            </a:r>
            <a:endParaRPr lang="en-US" sz="780" dirty="0"/>
          </a:p>
        </p:txBody>
      </p:sp>
      <p:sp>
        <p:nvSpPr>
          <p:cNvPr id="66" name="Text 64"/>
          <p:cNvSpPr/>
          <p:nvPr/>
        </p:nvSpPr>
        <p:spPr>
          <a:xfrm>
            <a:off x="6349594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Consumption Track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6331306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441034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41034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70" name="Text 68"/>
          <p:cNvSpPr/>
          <p:nvPr/>
        </p:nvSpPr>
        <p:spPr>
          <a:xfrm>
            <a:off x="6934810" y="2487168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3: SEMANTIC LAYER GATE ☐ Metric 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7562088" y="3261665"/>
            <a:ext cx="914" cy="164592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triangle" w="sm" len="sm"/>
          </a:ln>
        </p:spPr>
      </p:sp>
      <p:sp>
        <p:nvSpPr>
          <p:cNvPr id="72" name="Shape 70"/>
          <p:cNvSpPr/>
          <p:nvPr/>
        </p:nvSpPr>
        <p:spPr>
          <a:xfrm>
            <a:off x="6331306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441034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41034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75" name="Text 73"/>
          <p:cNvSpPr/>
          <p:nvPr/>
        </p:nvSpPr>
        <p:spPr>
          <a:xfrm>
            <a:off x="6934810" y="3535985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metric match?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7562088" y="4310482"/>
            <a:ext cx="914" cy="164592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triangle" w="sm" len="sm"/>
          </a:ln>
        </p:spPr>
      </p:sp>
      <p:sp>
        <p:nvSpPr>
          <p:cNvPr id="77" name="Shape 75"/>
          <p:cNvSpPr/>
          <p:nvPr/>
        </p:nvSpPr>
        <p:spPr>
          <a:xfrm>
            <a:off x="6331306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441034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441034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80" name="Text 78"/>
          <p:cNvSpPr/>
          <p:nvPr/>
        </p:nvSpPr>
        <p:spPr>
          <a:xfrm>
            <a:off x="6934810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 Trusted KPI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6331306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404458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04 → Full 16:9 Diagram</a:t>
            </a:r>
            <a:endParaRPr lang="en-US" sz="740" dirty="0"/>
          </a:p>
        </p:txBody>
      </p:sp>
      <p:sp>
        <p:nvSpPr>
          <p:cNvPr id="83" name="Shape 81"/>
          <p:cNvSpPr/>
          <p:nvPr/>
        </p:nvSpPr>
        <p:spPr>
          <a:xfrm>
            <a:off x="8948318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84" name="Shape 82"/>
          <p:cNvSpPr/>
          <p:nvPr/>
        </p:nvSpPr>
        <p:spPr>
          <a:xfrm>
            <a:off x="9140342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140342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FAF5FF"/>
          </a:solidFill>
          <a:ln w="10160">
            <a:solidFill>
              <a:srgbClr val="D8B4F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268358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  •  SLIDE 05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10669219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2563EB"/>
          </a:solidFill>
          <a:ln/>
        </p:spPr>
      </p:sp>
      <p:sp>
        <p:nvSpPr>
          <p:cNvPr id="88" name="Text 86"/>
          <p:cNvSpPr/>
          <p:nvPr/>
        </p:nvSpPr>
        <p:spPr>
          <a:xfrm>
            <a:off x="10669219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</a:t>
            </a:r>
            <a:endParaRPr lang="en-US" sz="780" dirty="0"/>
          </a:p>
        </p:txBody>
      </p:sp>
      <p:sp>
        <p:nvSpPr>
          <p:cNvPr id="89" name="Text 87"/>
          <p:cNvSpPr/>
          <p:nvPr/>
        </p:nvSpPr>
        <p:spPr>
          <a:xfrm>
            <a:off x="9286646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3x3 Matrix</a:t>
            </a:r>
            <a:endParaRPr lang="en-US" sz="1400" dirty="0"/>
          </a:p>
        </p:txBody>
      </p:sp>
      <p:sp>
        <p:nvSpPr>
          <p:cNvPr id="90" name="Shape 88"/>
          <p:cNvSpPr/>
          <p:nvPr/>
        </p:nvSpPr>
        <p:spPr>
          <a:xfrm>
            <a:off x="9268358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378086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378086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93" name="Text 91"/>
          <p:cNvSpPr/>
          <p:nvPr/>
        </p:nvSpPr>
        <p:spPr>
          <a:xfrm>
            <a:off x="9871862" y="2487168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Tables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10499141" y="3261665"/>
            <a:ext cx="914" cy="164592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 w="sm" len="sm"/>
          </a:ln>
        </p:spPr>
      </p:sp>
      <p:sp>
        <p:nvSpPr>
          <p:cNvPr id="95" name="Shape 93"/>
          <p:cNvSpPr/>
          <p:nvPr/>
        </p:nvSpPr>
        <p:spPr>
          <a:xfrm>
            <a:off x="9268358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378086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9378086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98" name="Text 96"/>
          <p:cNvSpPr/>
          <p:nvPr/>
        </p:nvSpPr>
        <p:spPr>
          <a:xfrm>
            <a:off x="9871862" y="3535985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Guessed SQL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10499141" y="4310482"/>
            <a:ext cx="914" cy="164592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 w="sm" len="sm"/>
          </a:ln>
        </p:spPr>
      </p:sp>
      <p:sp>
        <p:nvSpPr>
          <p:cNvPr id="100" name="Shape 98"/>
          <p:cNvSpPr/>
          <p:nvPr/>
        </p:nvSpPr>
        <p:spPr>
          <a:xfrm>
            <a:off x="9268358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378086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378086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103" name="Text 101"/>
          <p:cNvSpPr/>
          <p:nvPr/>
        </p:nvSpPr>
        <p:spPr>
          <a:xfrm>
            <a:off x="9871862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glossary.xlsx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9268358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9341510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Audit every Gold table for 3-Track completeness: Physical schema (Design), Ontology l...</a:t>
            </a:r>
            <a:endParaRPr lang="en-US" sz="740" dirty="0"/>
          </a:p>
        </p:txBody>
      </p:sp>
      <p:sp>
        <p:nvSpPr>
          <p:cNvPr id="106" name="Shape 104"/>
          <p:cNvSpPr/>
          <p:nvPr/>
        </p:nvSpPr>
        <p:spPr>
          <a:xfrm>
            <a:off x="329184" y="6126480"/>
            <a:ext cx="11530584" cy="475488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/>
        </p:spPr>
      </p:sp>
      <p:sp>
        <p:nvSpPr>
          <p:cNvPr id="107" name="Text 105"/>
          <p:cNvSpPr/>
          <p:nvPr/>
        </p:nvSpPr>
        <p:spPr>
          <a:xfrm>
            <a:off x="512064" y="612648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01 OF 05  •  EXECUTIVE ARCHITECTURE OVERVIEW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4754880" y="6126480"/>
            <a:ext cx="6903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02–05 render each architecture section as a full-bleed 16:9 widescreen editable diagram.</a:t>
            </a:r>
            <a:endParaRPr lang="en-US" sz="9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T71 • SECTION 01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+ Meaning + Consumption + Medallion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86891"/>
            <a:ext cx="10619842" cy="5068519"/>
          </a:xfrm>
          <a:prstGeom prst="roundRect">
            <a:avLst>
              <a:gd name="adj" fmla="val 902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85025" y="2241194"/>
            <a:ext cx="4131259" cy="2609698"/>
          </a:xfrm>
          <a:prstGeom prst="roundRect">
            <a:avLst>
              <a:gd name="adj" fmla="val 1752"/>
            </a:avLst>
          </a:prstGeom>
          <a:solidFill>
            <a:srgbClr val="EFF6FF"/>
          </a:solidFill>
          <a:ln w="14288">
            <a:solidFill>
              <a:srgbClr val="93C5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09421" y="2241194"/>
            <a:ext cx="3874313" cy="2609698"/>
          </a:xfrm>
          <a:prstGeom prst="roundRect">
            <a:avLst>
              <a:gd name="adj" fmla="val 1752"/>
            </a:avLst>
          </a:prstGeom>
          <a:solidFill>
            <a:srgbClr val="FFFBEB"/>
          </a:solidFill>
          <a:ln w="14288">
            <a:solidFill>
              <a:srgbClr val="F59E0B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309421" y="5051146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9324" y="5051146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3" name="Text 11"/>
          <p:cNvSpPr/>
          <p:nvPr/>
        </p:nvSpPr>
        <p:spPr>
          <a:xfrm>
            <a:off x="2709367" y="5051146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our Conceptual, Logical, and Physical models across Bronze, Silver, and Gold tables before writing pipeline SQL.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11020349" y="5374843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11020349" y="537484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309421" y="1388059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Track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1: How is data stored across Business, Logical &amp; Physical layers?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945929" y="1583741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16338" y="1583741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7424928" y="2843784"/>
            <a:ext cx="3851453" cy="627278"/>
          </a:xfrm>
          <a:prstGeom prst="roundRect">
            <a:avLst>
              <a:gd name="adj" fmla="val 7289"/>
            </a:avLst>
          </a:prstGeom>
          <a:solidFill>
            <a:srgbClr val="FFFFFF"/>
          </a:solidFill>
          <a:ln w="1143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64831" y="2843784"/>
            <a:ext cx="2157070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 → Silver</a:t>
            </a:r>
            <a:endParaRPr lang="en-US" sz="1290" dirty="0"/>
          </a:p>
        </p:txBody>
      </p:sp>
      <p:sp>
        <p:nvSpPr>
          <p:cNvPr id="21" name="Text 19"/>
          <p:cNvSpPr/>
          <p:nvPr/>
        </p:nvSpPr>
        <p:spPr>
          <a:xfrm>
            <a:off x="9259214" y="2843784"/>
            <a:ext cx="1877263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cleaned &amp; conformed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7424928" y="3570732"/>
            <a:ext cx="3851453" cy="627278"/>
          </a:xfrm>
          <a:prstGeom prst="roundRect">
            <a:avLst>
              <a:gd name="adj" fmla="val 7289"/>
            </a:avLst>
          </a:prstGeom>
          <a:solidFill>
            <a:srgbClr val="FFFFFF"/>
          </a:solidFill>
          <a:ln w="1143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64831" y="3570732"/>
            <a:ext cx="2157070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 → Gold</a:t>
            </a:r>
            <a:endParaRPr lang="en-US" sz="1290" dirty="0"/>
          </a:p>
        </p:txBody>
      </p:sp>
      <p:sp>
        <p:nvSpPr>
          <p:cNvPr id="24" name="Text 22"/>
          <p:cNvSpPr/>
          <p:nvPr/>
        </p:nvSpPr>
        <p:spPr>
          <a:xfrm>
            <a:off x="9259214" y="3570732"/>
            <a:ext cx="1877263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&amp; AI marts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1449324" y="2868473"/>
            <a:ext cx="3594506" cy="651967"/>
          </a:xfrm>
          <a:prstGeom prst="roundRect">
            <a:avLst>
              <a:gd name="adj" fmla="val 7013"/>
            </a:avLst>
          </a:prstGeom>
          <a:solidFill>
            <a:srgbClr val="FEF3C7"/>
          </a:solidFill>
          <a:ln w="11430">
            <a:solidFill>
              <a:srgbClr val="FCD3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89227" y="2868473"/>
            <a:ext cx="2012594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Conceptual Model</a:t>
            </a:r>
            <a:endParaRPr lang="en-US" sz="1290" dirty="0"/>
          </a:p>
        </p:txBody>
      </p:sp>
      <p:sp>
        <p:nvSpPr>
          <p:cNvPr id="27" name="Text 25"/>
          <p:cNvSpPr/>
          <p:nvPr/>
        </p:nvSpPr>
        <p:spPr>
          <a:xfrm>
            <a:off x="3171139" y="2868473"/>
            <a:ext cx="1732788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entities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7424928" y="4273906"/>
            <a:ext cx="3851453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tables in BigQuery / Apache Iceberg</a:t>
            </a:r>
            <a:endParaRPr lang="en-US" sz="1370" dirty="0"/>
          </a:p>
        </p:txBody>
      </p:sp>
      <p:sp>
        <p:nvSpPr>
          <p:cNvPr id="29" name="Text 27"/>
          <p:cNvSpPr/>
          <p:nvPr/>
        </p:nvSpPr>
        <p:spPr>
          <a:xfrm>
            <a:off x="1449324" y="2341778"/>
            <a:ext cx="326806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1: STORAGE &amp; STRUCTURE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424928" y="2341778"/>
            <a:ext cx="326806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MEDALLION PHYSICAL PIPELINE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449324" y="4348886"/>
            <a:ext cx="3594506" cy="401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Keys, relationships, partitions &amp; clustering</a:t>
            </a:r>
            <a:endParaRPr lang="en-US" sz="1310" dirty="0"/>
          </a:p>
        </p:txBody>
      </p:sp>
      <p:sp>
        <p:nvSpPr>
          <p:cNvPr id="32" name="Shape 30"/>
          <p:cNvSpPr/>
          <p:nvPr/>
        </p:nvSpPr>
        <p:spPr>
          <a:xfrm>
            <a:off x="1449324" y="3646627"/>
            <a:ext cx="1750162" cy="651967"/>
          </a:xfrm>
          <a:prstGeom prst="roundRect">
            <a:avLst>
              <a:gd name="adj" fmla="val 7013"/>
            </a:avLst>
          </a:prstGeom>
          <a:solidFill>
            <a:srgbClr val="FEF3C7"/>
          </a:solidFill>
          <a:ln w="11430">
            <a:solidFill>
              <a:srgbClr val="FCD3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49324" y="3646627"/>
            <a:ext cx="175016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Model</a:t>
            </a:r>
            <a:endParaRPr lang="en-US" sz="1310" dirty="0"/>
          </a:p>
        </p:txBody>
      </p:sp>
      <p:sp>
        <p:nvSpPr>
          <p:cNvPr id="34" name="Shape 32"/>
          <p:cNvSpPr/>
          <p:nvPr/>
        </p:nvSpPr>
        <p:spPr>
          <a:xfrm>
            <a:off x="3293669" y="3646627"/>
            <a:ext cx="1750162" cy="651967"/>
          </a:xfrm>
          <a:prstGeom prst="roundRect">
            <a:avLst>
              <a:gd name="adj" fmla="val 7013"/>
            </a:avLst>
          </a:prstGeom>
          <a:solidFill>
            <a:srgbClr val="F3E8FF"/>
          </a:solidFill>
          <a:ln w="11430">
            <a:solidFill>
              <a:srgbClr val="D8B4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3669" y="3646627"/>
            <a:ext cx="175016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Model</a:t>
            </a:r>
            <a:endParaRPr lang="en-US" sz="1310" dirty="0"/>
          </a:p>
        </p:txBody>
      </p:sp>
      <p:sp>
        <p:nvSpPr>
          <p:cNvPr id="36" name="Shape 34"/>
          <p:cNvSpPr/>
          <p:nvPr/>
        </p:nvSpPr>
        <p:spPr>
          <a:xfrm>
            <a:off x="6070702" y="2868473"/>
            <a:ext cx="630022" cy="630022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21578" y="3019349"/>
            <a:ext cx="327355" cy="327355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28562" y="3126334"/>
            <a:ext cx="113386" cy="11338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9" name="Text 37"/>
          <p:cNvSpPr/>
          <p:nvPr/>
        </p:nvSpPr>
        <p:spPr>
          <a:xfrm>
            <a:off x="5861304" y="4273906"/>
            <a:ext cx="105064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medallion</a:t>
            </a:r>
            <a:endParaRPr lang="en-US" sz="1370" dirty="0"/>
          </a:p>
        </p:txBody>
      </p:sp>
      <p:sp>
        <p:nvSpPr>
          <p:cNvPr id="40" name="Shape 38"/>
          <p:cNvSpPr/>
          <p:nvPr/>
        </p:nvSpPr>
        <p:spPr>
          <a:xfrm>
            <a:off x="422453" y="1388059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FEF3C7"/>
          </a:solidFill>
          <a:ln w="14288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2453" y="1388059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30" dirty="0"/>
          </a:p>
        </p:txBody>
      </p:sp>
      <p:sp>
        <p:nvSpPr>
          <p:cNvPr id="42" name="Shape 40"/>
          <p:cNvSpPr/>
          <p:nvPr/>
        </p:nvSpPr>
        <p:spPr>
          <a:xfrm>
            <a:off x="5183734" y="3546043"/>
            <a:ext cx="886968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43" name="Shape 41"/>
          <p:cNvSpPr/>
          <p:nvPr/>
        </p:nvSpPr>
        <p:spPr>
          <a:xfrm>
            <a:off x="5182819" y="3386023"/>
            <a:ext cx="77449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5182819" y="3386023"/>
            <a:ext cx="77449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flows to</a:t>
            </a:r>
            <a:endParaRPr lang="en-US" sz="1170" dirty="0"/>
          </a:p>
        </p:txBody>
      </p:sp>
      <p:sp>
        <p:nvSpPr>
          <p:cNvPr id="45" name="Shape 43"/>
          <p:cNvSpPr/>
          <p:nvPr/>
        </p:nvSpPr>
        <p:spPr>
          <a:xfrm>
            <a:off x="6701638" y="3546043"/>
            <a:ext cx="583387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T71 • SECTION 02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+ Meaning + Consumption + Medallion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37514"/>
            <a:ext cx="10619842" cy="5169103"/>
          </a:xfrm>
          <a:prstGeom prst="roundRect">
            <a:avLst>
              <a:gd name="adj" fmla="val 884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9421" y="2190902"/>
            <a:ext cx="10106863" cy="2710282"/>
          </a:xfrm>
          <a:prstGeom prst="roundRect">
            <a:avLst>
              <a:gd name="adj" fmla="val 1687"/>
            </a:avLst>
          </a:prstGeom>
          <a:solidFill>
            <a:srgbClr val="FAF5FF"/>
          </a:solidFill>
          <a:ln w="14288">
            <a:solidFill>
              <a:srgbClr val="D8B4FE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309421" y="5101438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49324" y="5101438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2" name="Text 10"/>
          <p:cNvSpPr/>
          <p:nvPr/>
        </p:nvSpPr>
        <p:spPr>
          <a:xfrm>
            <a:off x="2709367" y="5101438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 every Physical Gold column to our Business Glossary and Ontology so agents never guess metric definitions.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11020349" y="5425135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11020349" y="54251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309421" y="1337767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 Track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2: What does the data mean to humans and AI reasoning agents?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945929" y="1533449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16338" y="1533449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6258154" y="2843784"/>
            <a:ext cx="2450592" cy="1405433"/>
          </a:xfrm>
          <a:prstGeom prst="roundRect">
            <a:avLst>
              <a:gd name="adj" fmla="val 3253"/>
            </a:avLst>
          </a:prstGeom>
          <a:solidFill>
            <a:srgbClr val="F3E8FF"/>
          </a:solidFill>
          <a:ln w="14288">
            <a:solidFill>
              <a:srgbClr val="C084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58154" y="2843784"/>
            <a:ext cx="2450592" cy="1405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GRAPH Entities · Links · Context</a:t>
            </a:r>
            <a:endParaRPr lang="en-US" sz="1310" dirty="0"/>
          </a:p>
        </p:txBody>
      </p:sp>
      <p:sp>
        <p:nvSpPr>
          <p:cNvPr id="20" name="Shape 18"/>
          <p:cNvSpPr/>
          <p:nvPr/>
        </p:nvSpPr>
        <p:spPr>
          <a:xfrm>
            <a:off x="9105595" y="2843784"/>
            <a:ext cx="2147011" cy="1405433"/>
          </a:xfrm>
          <a:prstGeom prst="roundRect">
            <a:avLst>
              <a:gd name="adj" fmla="val 3253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05595" y="2843784"/>
            <a:ext cx="2147011" cy="1405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FOUNDATION Catalog · Lineage · Contracts</a:t>
            </a:r>
            <a:endParaRPr lang="en-US" sz="1310" dirty="0"/>
          </a:p>
        </p:txBody>
      </p:sp>
      <p:sp>
        <p:nvSpPr>
          <p:cNvPr id="22" name="Shape 20"/>
          <p:cNvSpPr/>
          <p:nvPr/>
        </p:nvSpPr>
        <p:spPr>
          <a:xfrm>
            <a:off x="1449324" y="2793492"/>
            <a:ext cx="2614270" cy="702259"/>
          </a:xfrm>
          <a:prstGeom prst="roundRect">
            <a:avLst>
              <a:gd name="adj" fmla="val 6510"/>
            </a:avLst>
          </a:prstGeom>
          <a:solidFill>
            <a:srgbClr val="F3E8FF"/>
          </a:solidFill>
          <a:ln w="14288">
            <a:solidFill>
              <a:srgbClr val="C084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89227" y="2793492"/>
            <a:ext cx="1463954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Glossary</a:t>
            </a:r>
            <a:endParaRPr lang="en-US" sz="1290" dirty="0"/>
          </a:p>
        </p:txBody>
      </p:sp>
      <p:sp>
        <p:nvSpPr>
          <p:cNvPr id="24" name="Text 22"/>
          <p:cNvSpPr/>
          <p:nvPr/>
        </p:nvSpPr>
        <p:spPr>
          <a:xfrm>
            <a:off x="2739542" y="2793492"/>
            <a:ext cx="1184148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terms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1449324" y="3696919"/>
            <a:ext cx="2614270" cy="702259"/>
          </a:xfrm>
          <a:prstGeom prst="roundRect">
            <a:avLst>
              <a:gd name="adj" fmla="val 6510"/>
            </a:avLst>
          </a:prstGeom>
          <a:solidFill>
            <a:srgbClr val="F3E8FF"/>
          </a:solidFill>
          <a:ln w="14288">
            <a:solidFill>
              <a:srgbClr val="C084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89227" y="3696919"/>
            <a:ext cx="1463954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Ontology</a:t>
            </a:r>
            <a:endParaRPr lang="en-US" sz="1290" dirty="0"/>
          </a:p>
        </p:txBody>
      </p:sp>
      <p:sp>
        <p:nvSpPr>
          <p:cNvPr id="27" name="Text 25"/>
          <p:cNvSpPr/>
          <p:nvPr/>
        </p:nvSpPr>
        <p:spPr>
          <a:xfrm>
            <a:off x="2739542" y="3696919"/>
            <a:ext cx="1184148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rules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1449324" y="2291486"/>
            <a:ext cx="2859329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9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2: SEMANTIC GROUNDING</a:t>
            </a:r>
            <a:endParaRPr lang="en-US" sz="1190" dirty="0"/>
          </a:p>
        </p:txBody>
      </p:sp>
      <p:sp>
        <p:nvSpPr>
          <p:cNvPr id="29" name="Shape 27"/>
          <p:cNvSpPr/>
          <p:nvPr/>
        </p:nvSpPr>
        <p:spPr>
          <a:xfrm>
            <a:off x="4624121" y="2843784"/>
            <a:ext cx="653796" cy="653796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81398" y="3001061"/>
            <a:ext cx="340157" cy="340157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3111703"/>
            <a:ext cx="117958" cy="11795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4425696" y="2316175"/>
            <a:ext cx="105064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ontology</a:t>
            </a:r>
            <a:endParaRPr lang="en-US" sz="1370" dirty="0"/>
          </a:p>
        </p:txBody>
      </p:sp>
      <p:sp>
        <p:nvSpPr>
          <p:cNvPr id="33" name="Shape 31"/>
          <p:cNvSpPr/>
          <p:nvPr/>
        </p:nvSpPr>
        <p:spPr>
          <a:xfrm>
            <a:off x="422453" y="1337767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F3E8FF"/>
          </a:solidFill>
          <a:ln w="14288">
            <a:solidFill>
              <a:srgbClr val="A855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2453" y="1337767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7E2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30" dirty="0"/>
          </a:p>
        </p:txBody>
      </p:sp>
      <p:sp>
        <p:nvSpPr>
          <p:cNvPr id="35" name="Shape 33"/>
          <p:cNvSpPr/>
          <p:nvPr/>
        </p:nvSpPr>
        <p:spPr>
          <a:xfrm>
            <a:off x="4063594" y="3144622"/>
            <a:ext cx="560527" cy="401422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6" name="Shape 34"/>
          <p:cNvSpPr/>
          <p:nvPr/>
        </p:nvSpPr>
        <p:spPr>
          <a:xfrm flipV="1">
            <a:off x="4063594" y="3546043"/>
            <a:ext cx="560527" cy="502006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7" name="Shape 35"/>
          <p:cNvSpPr/>
          <p:nvPr/>
        </p:nvSpPr>
        <p:spPr>
          <a:xfrm>
            <a:off x="5277917" y="3546043"/>
            <a:ext cx="980237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8" name="Shape 36"/>
          <p:cNvSpPr/>
          <p:nvPr/>
        </p:nvSpPr>
        <p:spPr>
          <a:xfrm>
            <a:off x="5401361" y="3386023"/>
            <a:ext cx="616306" cy="219456"/>
          </a:xfrm>
          <a:prstGeom prst="roundRect">
            <a:avLst>
              <a:gd name="adj" fmla="val 50000"/>
            </a:avLst>
          </a:prstGeom>
          <a:solidFill>
            <a:srgbClr val="FAF5FF"/>
          </a:solidFill>
          <a:ln/>
        </p:spPr>
      </p:sp>
      <p:sp>
        <p:nvSpPr>
          <p:cNvPr id="39" name="Text 37"/>
          <p:cNvSpPr/>
          <p:nvPr/>
        </p:nvSpPr>
        <p:spPr>
          <a:xfrm>
            <a:off x="5401361" y="3386023"/>
            <a:ext cx="6163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</a:t>
            </a:r>
            <a:endParaRPr lang="en-US" sz="1170" dirty="0"/>
          </a:p>
        </p:txBody>
      </p:sp>
      <p:sp>
        <p:nvSpPr>
          <p:cNvPr id="40" name="Shape 38"/>
          <p:cNvSpPr/>
          <p:nvPr/>
        </p:nvSpPr>
        <p:spPr>
          <a:xfrm flipH="1">
            <a:off x="4950562" y="4248302"/>
            <a:ext cx="2532888" cy="91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41" name="Shape 39"/>
          <p:cNvSpPr/>
          <p:nvPr/>
        </p:nvSpPr>
        <p:spPr>
          <a:xfrm>
            <a:off x="5591556" y="4088282"/>
            <a:ext cx="1250899" cy="219456"/>
          </a:xfrm>
          <a:prstGeom prst="roundRect">
            <a:avLst>
              <a:gd name="adj" fmla="val 50000"/>
            </a:avLst>
          </a:prstGeom>
          <a:solidFill>
            <a:srgbClr val="FAF5FF"/>
          </a:solidFill>
          <a:ln/>
        </p:spPr>
      </p:sp>
      <p:sp>
        <p:nvSpPr>
          <p:cNvPr id="42" name="Text 40"/>
          <p:cNvSpPr/>
          <p:nvPr/>
        </p:nvSpPr>
        <p:spPr>
          <a:xfrm>
            <a:off x="5591556" y="4088282"/>
            <a:ext cx="12508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resolves terms</a:t>
            </a:r>
            <a:endParaRPr lang="en-US" sz="1170" dirty="0"/>
          </a:p>
        </p:txBody>
      </p:sp>
      <p:sp>
        <p:nvSpPr>
          <p:cNvPr id="43" name="Shape 41"/>
          <p:cNvSpPr/>
          <p:nvPr/>
        </p:nvSpPr>
        <p:spPr>
          <a:xfrm>
            <a:off x="8708746" y="3546043"/>
            <a:ext cx="396850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T71 • SECTION 03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+ Meaning + Consumption + Medallion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37514"/>
            <a:ext cx="10619842" cy="5169103"/>
          </a:xfrm>
          <a:prstGeom prst="roundRect">
            <a:avLst>
              <a:gd name="adj" fmla="val 884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9421" y="5101438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49324" y="5101438"/>
            <a:ext cx="5660136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290" dirty="0"/>
          </a:p>
        </p:txBody>
      </p:sp>
      <p:sp>
        <p:nvSpPr>
          <p:cNvPr id="11" name="Text 9"/>
          <p:cNvSpPr/>
          <p:nvPr/>
        </p:nvSpPr>
        <p:spPr>
          <a:xfrm>
            <a:off x="5896051" y="5101438"/>
            <a:ext cx="5380330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all AI agent and BI queries through the Semantic Layer — block direct raw-table SQL guesses on executive KPIs.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1309421" y="1212494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Consumption Track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3: How is data safely consumed via the Semantic Layer?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945929" y="1408176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16338" y="1408176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2663647" y="1990649"/>
            <a:ext cx="2521001" cy="1304849"/>
          </a:xfrm>
          <a:prstGeom prst="roundRect">
            <a:avLst>
              <a:gd name="adj" fmla="val 3504"/>
            </a:avLst>
          </a:prstGeom>
          <a:solidFill>
            <a:srgbClr val="ECFDF5"/>
          </a:solidFill>
          <a:ln w="14288">
            <a:solidFill>
              <a:srgbClr val="6EE7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63647" y="1990649"/>
            <a:ext cx="2521001" cy="1304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3: SEMANTIC LAYER GATE ☐ Metric in Semantic Model ☐ Data contract SLA healthy</a:t>
            </a:r>
            <a:endParaRPr lang="en-US" sz="1310" dirty="0"/>
          </a:p>
        </p:txBody>
      </p:sp>
      <p:sp>
        <p:nvSpPr>
          <p:cNvPr id="17" name="Shape 15"/>
          <p:cNvSpPr/>
          <p:nvPr/>
        </p:nvSpPr>
        <p:spPr>
          <a:xfrm>
            <a:off x="2663647" y="4147718"/>
            <a:ext cx="2521001" cy="752551"/>
          </a:xfrm>
          <a:prstGeom prst="roundRect">
            <a:avLst>
              <a:gd name="adj" fmla="val 6075"/>
            </a:avLst>
          </a:prstGeom>
          <a:solidFill>
            <a:srgbClr val="D1FAE5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63647" y="4147718"/>
            <a:ext cx="2521001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metric in Semantic Layer</a:t>
            </a:r>
            <a:endParaRPr lang="en-US" sz="1310" dirty="0"/>
          </a:p>
        </p:txBody>
      </p:sp>
      <p:sp>
        <p:nvSpPr>
          <p:cNvPr id="19" name="Shape 17"/>
          <p:cNvSpPr/>
          <p:nvPr/>
        </p:nvSpPr>
        <p:spPr>
          <a:xfrm>
            <a:off x="6070702" y="2241194"/>
            <a:ext cx="2241194" cy="802843"/>
          </a:xfrm>
          <a:prstGeom prst="roundRect">
            <a:avLst>
              <a:gd name="adj" fmla="val 5695"/>
            </a:avLst>
          </a:prstGeom>
          <a:solidFill>
            <a:srgbClr val="ECFDF5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70702" y="2241194"/>
            <a:ext cx="2241194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metric match?</a:t>
            </a:r>
            <a:endParaRPr lang="en-US" sz="1310" dirty="0"/>
          </a:p>
        </p:txBody>
      </p:sp>
      <p:sp>
        <p:nvSpPr>
          <p:cNvPr id="21" name="Shape 19"/>
          <p:cNvSpPr/>
          <p:nvPr/>
        </p:nvSpPr>
        <p:spPr>
          <a:xfrm>
            <a:off x="9245498" y="2241194"/>
            <a:ext cx="2170786" cy="802843"/>
          </a:xfrm>
          <a:prstGeom prst="roundRect">
            <a:avLst>
              <a:gd name="adj" fmla="val 5695"/>
            </a:avLst>
          </a:prstGeom>
          <a:solidFill>
            <a:srgbClr val="0F172A"/>
          </a:solidFill>
          <a:ln w="14288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45498" y="2241194"/>
            <a:ext cx="2170786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 Trusted KPI</a:t>
            </a:r>
            <a:endParaRPr lang="en-US" sz="1310" dirty="0"/>
          </a:p>
        </p:txBody>
      </p:sp>
      <p:sp>
        <p:nvSpPr>
          <p:cNvPr id="23" name="Shape 21"/>
          <p:cNvSpPr/>
          <p:nvPr/>
        </p:nvSpPr>
        <p:spPr>
          <a:xfrm>
            <a:off x="6070702" y="4147718"/>
            <a:ext cx="2241194" cy="752551"/>
          </a:xfrm>
          <a:prstGeom prst="roundRect">
            <a:avLst>
              <a:gd name="adj" fmla="val 6075"/>
            </a:avLst>
          </a:prstGeom>
          <a:solidFill>
            <a:srgbClr val="ECFDF5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70702" y="4147718"/>
            <a:ext cx="2241194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SQL bypass tried?</a:t>
            </a:r>
            <a:endParaRPr lang="en-US" sz="1310" dirty="0"/>
          </a:p>
        </p:txBody>
      </p:sp>
      <p:sp>
        <p:nvSpPr>
          <p:cNvPr id="25" name="Shape 23"/>
          <p:cNvSpPr/>
          <p:nvPr/>
        </p:nvSpPr>
        <p:spPr>
          <a:xfrm>
            <a:off x="9245498" y="4147718"/>
            <a:ext cx="2170786" cy="752551"/>
          </a:xfrm>
          <a:prstGeom prst="roundRect">
            <a:avLst>
              <a:gd name="adj" fmla="val 6075"/>
            </a:avLst>
          </a:prstGeom>
          <a:solidFill>
            <a:srgbClr val="FFF7ED"/>
          </a:solidFill>
          <a:ln w="14288">
            <a:solidFill>
              <a:srgbClr val="FB92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45498" y="4147718"/>
            <a:ext cx="2170786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raw SQL guess</a:t>
            </a:r>
            <a:endParaRPr lang="en-US" sz="1310" dirty="0"/>
          </a:p>
        </p:txBody>
      </p:sp>
      <p:sp>
        <p:nvSpPr>
          <p:cNvPr id="27" name="Shape 25"/>
          <p:cNvSpPr/>
          <p:nvPr/>
        </p:nvSpPr>
        <p:spPr>
          <a:xfrm>
            <a:off x="1613002" y="1990649"/>
            <a:ext cx="607162" cy="607162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58391" y="2136038"/>
            <a:ext cx="315468" cy="315468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61718" y="2239366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1507846" y="3344875"/>
            <a:ext cx="816559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query</a:t>
            </a:r>
            <a:endParaRPr lang="en-US" sz="1370" dirty="0"/>
          </a:p>
        </p:txBody>
      </p:sp>
      <p:sp>
        <p:nvSpPr>
          <p:cNvPr id="31" name="Shape 29"/>
          <p:cNvSpPr/>
          <p:nvPr/>
        </p:nvSpPr>
        <p:spPr>
          <a:xfrm>
            <a:off x="422453" y="1212494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DCFCE7"/>
          </a:solidFill>
          <a:ln w="14288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2453" y="1212494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30" dirty="0"/>
          </a:p>
        </p:txBody>
      </p:sp>
      <p:sp>
        <p:nvSpPr>
          <p:cNvPr id="33" name="Shape 31"/>
          <p:cNvSpPr/>
          <p:nvPr/>
        </p:nvSpPr>
        <p:spPr>
          <a:xfrm>
            <a:off x="2220163" y="2642616"/>
            <a:ext cx="443484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4" name="Shape 32"/>
          <p:cNvSpPr/>
          <p:nvPr/>
        </p:nvSpPr>
        <p:spPr>
          <a:xfrm>
            <a:off x="5183734" y="2642616"/>
            <a:ext cx="886968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5" name="Shape 33"/>
          <p:cNvSpPr/>
          <p:nvPr/>
        </p:nvSpPr>
        <p:spPr>
          <a:xfrm>
            <a:off x="8311896" y="2642616"/>
            <a:ext cx="933602" cy="914"/>
          </a:xfrm>
          <a:prstGeom prst="line">
            <a:avLst/>
          </a:prstGeom>
          <a:noFill/>
          <a:ln w="20320">
            <a:solidFill>
              <a:srgbClr val="10B981"/>
            </a:solidFill>
            <a:prstDash val="solid"/>
            <a:tailEnd type="triangle" w="sm" len="sm"/>
          </a:ln>
        </p:spPr>
      </p:sp>
      <p:sp>
        <p:nvSpPr>
          <p:cNvPr id="36" name="Shape 34"/>
          <p:cNvSpPr/>
          <p:nvPr/>
        </p:nvSpPr>
        <p:spPr>
          <a:xfrm>
            <a:off x="8440826" y="2495398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8440826" y="2495398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70" dirty="0"/>
          </a:p>
        </p:txBody>
      </p:sp>
      <p:sp>
        <p:nvSpPr>
          <p:cNvPr id="38" name="Shape 36"/>
          <p:cNvSpPr/>
          <p:nvPr/>
        </p:nvSpPr>
        <p:spPr>
          <a:xfrm>
            <a:off x="7191756" y="3044038"/>
            <a:ext cx="914" cy="1103681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9" name="Shape 37"/>
          <p:cNvSpPr/>
          <p:nvPr/>
        </p:nvSpPr>
        <p:spPr>
          <a:xfrm>
            <a:off x="6911950" y="3335731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6911950" y="3335731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70" dirty="0"/>
          </a:p>
        </p:txBody>
      </p:sp>
      <p:sp>
        <p:nvSpPr>
          <p:cNvPr id="41" name="Shape 39"/>
          <p:cNvSpPr/>
          <p:nvPr/>
        </p:nvSpPr>
        <p:spPr>
          <a:xfrm>
            <a:off x="8311896" y="4524451"/>
            <a:ext cx="933602" cy="914"/>
          </a:xfrm>
          <a:prstGeom prst="line">
            <a:avLst/>
          </a:prstGeom>
          <a:noFill/>
          <a:ln w="20320">
            <a:solidFill>
              <a:srgbClr val="DC2626"/>
            </a:solidFill>
            <a:prstDash val="solid"/>
            <a:tailEnd type="triangle" w="sm" len="sm"/>
          </a:ln>
        </p:spPr>
      </p:sp>
      <p:sp>
        <p:nvSpPr>
          <p:cNvPr id="42" name="Shape 40"/>
          <p:cNvSpPr/>
          <p:nvPr/>
        </p:nvSpPr>
        <p:spPr>
          <a:xfrm>
            <a:off x="8440826" y="4377233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8440826" y="4377233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70" dirty="0"/>
          </a:p>
        </p:txBody>
      </p:sp>
      <p:sp>
        <p:nvSpPr>
          <p:cNvPr id="44" name="Shape 42"/>
          <p:cNvSpPr/>
          <p:nvPr/>
        </p:nvSpPr>
        <p:spPr>
          <a:xfrm flipH="1">
            <a:off x="5183734" y="4524451"/>
            <a:ext cx="886968" cy="914"/>
          </a:xfrm>
          <a:prstGeom prst="line">
            <a:avLst/>
          </a:prstGeom>
          <a:noFill/>
          <a:ln w="16256">
            <a:solidFill>
              <a:srgbClr val="10B981"/>
            </a:solidFill>
            <a:prstDash val="solid"/>
            <a:tailEnd type="triangle" w="sm" len="sm"/>
          </a:ln>
        </p:spPr>
      </p:sp>
      <p:sp>
        <p:nvSpPr>
          <p:cNvPr id="45" name="Shape 43"/>
          <p:cNvSpPr/>
          <p:nvPr/>
        </p:nvSpPr>
        <p:spPr>
          <a:xfrm>
            <a:off x="5405933" y="4377233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5405933" y="4377233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70" dirty="0"/>
          </a:p>
        </p:txBody>
      </p:sp>
      <p:sp>
        <p:nvSpPr>
          <p:cNvPr id="47" name="Shape 45"/>
          <p:cNvSpPr/>
          <p:nvPr/>
        </p:nvSpPr>
        <p:spPr>
          <a:xfrm flipH="1" flipV="1">
            <a:off x="1613002" y="2642616"/>
            <a:ext cx="1050646" cy="1881835"/>
          </a:xfrm>
          <a:prstGeom prst="line">
            <a:avLst/>
          </a:prstGeom>
          <a:noFill/>
          <a:ln w="20320">
            <a:solidFill>
              <a:srgbClr val="10B981"/>
            </a:solidFill>
            <a:prstDash val="solid"/>
            <a:tailEnd type="triangl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T71 • SECTION 04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+ Meaning + Consumption + Medallion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37514"/>
            <a:ext cx="10619842" cy="5169103"/>
          </a:xfrm>
          <a:prstGeom prst="roundRect">
            <a:avLst>
              <a:gd name="adj" fmla="val 884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9421" y="2190902"/>
            <a:ext cx="5042002" cy="2609698"/>
          </a:xfrm>
          <a:prstGeom prst="roundRect">
            <a:avLst>
              <a:gd name="adj" fmla="val 1752"/>
            </a:avLst>
          </a:prstGeom>
          <a:solidFill>
            <a:srgbClr val="F8FAFC"/>
          </a:solidFill>
          <a:ln w="14288">
            <a:solidFill>
              <a:srgbClr val="93C5FD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7401154" y="2190902"/>
            <a:ext cx="4015130" cy="2609698"/>
          </a:xfrm>
          <a:prstGeom prst="roundRect">
            <a:avLst>
              <a:gd name="adj" fmla="val 1752"/>
            </a:avLst>
          </a:prstGeom>
          <a:solidFill>
            <a:srgbClr val="FFFFFF"/>
          </a:solidFill>
          <a:ln w="14288">
            <a:solidFill>
              <a:srgbClr val="93C5F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09421" y="5101438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9324" y="5101438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3" name="Text 11"/>
          <p:cNvSpPr/>
          <p:nvPr/>
        </p:nvSpPr>
        <p:spPr>
          <a:xfrm>
            <a:off x="2709367" y="5101438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every Gold table for 3-Track completeness: Physical schema (Design), Ontology link (Meaning), and Semantic metric (Use).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11020349" y="5425135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11020349" y="54251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564831" y="3276295"/>
            <a:ext cx="368777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64831" y="2767889"/>
            <a:ext cx="1217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Consistency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781898" y="2958084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DBEAFE"/>
          </a:solidFill>
          <a:ln/>
        </p:spPr>
      </p:sp>
      <p:sp>
        <p:nvSpPr>
          <p:cNvPr id="19" name="Shape 17"/>
          <p:cNvSpPr/>
          <p:nvPr/>
        </p:nvSpPr>
        <p:spPr>
          <a:xfrm>
            <a:off x="8781898" y="2958084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10146182" y="2767889"/>
            <a:ext cx="1106424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 → 100%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564831" y="3783787"/>
            <a:ext cx="368777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64831" y="3276295"/>
            <a:ext cx="1217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Text-to-SQL Acc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781898" y="3466490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DBEAFE"/>
          </a:solidFill>
          <a:ln/>
        </p:spPr>
      </p:sp>
      <p:sp>
        <p:nvSpPr>
          <p:cNvPr id="24" name="Shape 22"/>
          <p:cNvSpPr/>
          <p:nvPr/>
        </p:nvSpPr>
        <p:spPr>
          <a:xfrm>
            <a:off x="8781898" y="3466490"/>
            <a:ext cx="1333195" cy="128016"/>
          </a:xfrm>
          <a:prstGeom prst="roundRect">
            <a:avLst>
              <a:gd name="adj" fmla="val 142857"/>
            </a:avLst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10146182" y="3276295"/>
            <a:ext cx="1106424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 → 96%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564831" y="4292194"/>
            <a:ext cx="368777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64831" y="3784702"/>
            <a:ext cx="1217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Drift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781898" y="3973982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DBEAFE"/>
          </a:solidFill>
          <a:ln/>
        </p:spPr>
      </p:sp>
      <p:sp>
        <p:nvSpPr>
          <p:cNvPr id="29" name="Shape 27"/>
          <p:cNvSpPr/>
          <p:nvPr/>
        </p:nvSpPr>
        <p:spPr>
          <a:xfrm>
            <a:off x="8781898" y="3973982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10146182" y="3784702"/>
            <a:ext cx="1106424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→ 0 breaks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564831" y="4292194"/>
            <a:ext cx="1327709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892540" y="4292194"/>
            <a:ext cx="2360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BigQuery + Dataplex • dbt / Looker</a:t>
            </a:r>
            <a:endParaRPr lang="en-US" sz="1220" dirty="0"/>
          </a:p>
        </p:txBody>
      </p:sp>
      <p:sp>
        <p:nvSpPr>
          <p:cNvPr id="33" name="Text 31"/>
          <p:cNvSpPr/>
          <p:nvPr/>
        </p:nvSpPr>
        <p:spPr>
          <a:xfrm>
            <a:off x="1309421" y="1337767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3x3 Matrix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Siloed raw-table chaos vs. aligned 3-Track Data Modeling Architecture.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9945929" y="1533449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16338" y="1533449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36" name="Shape 34"/>
          <p:cNvSpPr/>
          <p:nvPr/>
        </p:nvSpPr>
        <p:spPr>
          <a:xfrm>
            <a:off x="7401154" y="2190902"/>
            <a:ext cx="4015130" cy="576986"/>
          </a:xfrm>
          <a:prstGeom prst="roundRect">
            <a:avLst>
              <a:gd name="adj" fmla="val 7924"/>
            </a:avLst>
          </a:prstGeom>
          <a:solidFill>
            <a:srgbClr val="DBEAFE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01154" y="2190902"/>
            <a:ext cx="4015130" cy="576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3-TRACK DATA ARCHITECTURE IMPACT</a:t>
            </a:r>
            <a:endParaRPr lang="en-US" sz="1310" dirty="0"/>
          </a:p>
        </p:txBody>
      </p:sp>
      <p:sp>
        <p:nvSpPr>
          <p:cNvPr id="38" name="Text 36"/>
          <p:cNvSpPr/>
          <p:nvPr/>
        </p:nvSpPr>
        <p:spPr>
          <a:xfrm>
            <a:off x="1449324" y="2291486"/>
            <a:ext cx="2567635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UNALIGNED DATA SILOS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3853282" y="2291486"/>
            <a:ext cx="2334463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SQL queries = 5 different KPIs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717390" y="3044038"/>
            <a:ext cx="1470355" cy="702259"/>
          </a:xfrm>
          <a:prstGeom prst="roundRect">
            <a:avLst>
              <a:gd name="adj" fmla="val 6510"/>
            </a:avLst>
          </a:prstGeom>
          <a:solidFill>
            <a:srgbClr val="FFFFFF"/>
          </a:solidFill>
          <a:ln w="14288">
            <a:solidFill>
              <a:srgbClr val="94A3B8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4717390" y="3044038"/>
            <a:ext cx="1470355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glossary.xlsx</a:t>
            </a:r>
            <a:endParaRPr lang="en-US" sz="1310" dirty="0"/>
          </a:p>
        </p:txBody>
      </p:sp>
      <p:sp>
        <p:nvSpPr>
          <p:cNvPr id="42" name="Shape 40"/>
          <p:cNvSpPr/>
          <p:nvPr/>
        </p:nvSpPr>
        <p:spPr>
          <a:xfrm>
            <a:off x="1449324" y="2843784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449324" y="2843784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Tables</a:t>
            </a:r>
            <a:endParaRPr lang="en-US" sz="1310" dirty="0"/>
          </a:p>
        </p:txBody>
      </p:sp>
      <p:sp>
        <p:nvSpPr>
          <p:cNvPr id="44" name="Shape 42"/>
          <p:cNvSpPr/>
          <p:nvPr/>
        </p:nvSpPr>
        <p:spPr>
          <a:xfrm>
            <a:off x="1449324" y="3846881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449324" y="3846881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KPI Rules</a:t>
            </a:r>
            <a:endParaRPr lang="en-US" sz="1310" dirty="0"/>
          </a:p>
        </p:txBody>
      </p:sp>
      <p:sp>
        <p:nvSpPr>
          <p:cNvPr id="46" name="Shape 44"/>
          <p:cNvSpPr/>
          <p:nvPr/>
        </p:nvSpPr>
        <p:spPr>
          <a:xfrm>
            <a:off x="3129991" y="2843784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29991" y="2843784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Guessed SQL</a:t>
            </a:r>
            <a:endParaRPr lang="en-US" sz="1310" dirty="0"/>
          </a:p>
        </p:txBody>
      </p:sp>
      <p:sp>
        <p:nvSpPr>
          <p:cNvPr id="48" name="Shape 46"/>
          <p:cNvSpPr/>
          <p:nvPr/>
        </p:nvSpPr>
        <p:spPr>
          <a:xfrm>
            <a:off x="3129991" y="3846881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29991" y="3846881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Broken BI</a:t>
            </a:r>
            <a:endParaRPr lang="en-US" sz="1310" dirty="0"/>
          </a:p>
        </p:txBody>
      </p:sp>
      <p:sp>
        <p:nvSpPr>
          <p:cNvPr id="50" name="Text 48"/>
          <p:cNvSpPr/>
          <p:nvPr/>
        </p:nvSpPr>
        <p:spPr>
          <a:xfrm>
            <a:off x="4869180" y="3846881"/>
            <a:ext cx="1166774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1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stale</a:t>
            </a:r>
            <a:endParaRPr lang="en-US" sz="1310" dirty="0"/>
          </a:p>
        </p:txBody>
      </p:sp>
      <p:sp>
        <p:nvSpPr>
          <p:cNvPr id="51" name="Shape 49"/>
          <p:cNvSpPr/>
          <p:nvPr/>
        </p:nvSpPr>
        <p:spPr>
          <a:xfrm>
            <a:off x="422453" y="1337767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DBEAFE"/>
          </a:solidFill>
          <a:ln w="14288">
            <a:solidFill>
              <a:srgbClr val="3B82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2453" y="1337767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30" dirty="0"/>
          </a:p>
        </p:txBody>
      </p:sp>
      <p:sp>
        <p:nvSpPr>
          <p:cNvPr id="53" name="Shape 51"/>
          <p:cNvSpPr/>
          <p:nvPr/>
        </p:nvSpPr>
        <p:spPr>
          <a:xfrm>
            <a:off x="2826410" y="3194914"/>
            <a:ext cx="303581" cy="914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4" name="Shape 52"/>
          <p:cNvSpPr/>
          <p:nvPr/>
        </p:nvSpPr>
        <p:spPr>
          <a:xfrm>
            <a:off x="2137867" y="3546043"/>
            <a:ext cx="914" cy="300838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2826410" y="4198010"/>
            <a:ext cx="303581" cy="914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6" name="Shape 54"/>
          <p:cNvSpPr/>
          <p:nvPr/>
        </p:nvSpPr>
        <p:spPr>
          <a:xfrm>
            <a:off x="3818534" y="3546043"/>
            <a:ext cx="914" cy="300838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7" name="Shape 55"/>
          <p:cNvSpPr/>
          <p:nvPr/>
        </p:nvSpPr>
        <p:spPr>
          <a:xfrm>
            <a:off x="2826410" y="3546043"/>
            <a:ext cx="303581" cy="300838"/>
          </a:xfrm>
          <a:prstGeom prst="line">
            <a:avLst/>
          </a:prstGeom>
          <a:noFill/>
          <a:ln w="13208">
            <a:solidFill>
              <a:srgbClr val="64748B"/>
            </a:solidFill>
            <a:prstDash val="solid"/>
            <a:tailEnd type="none"/>
          </a:ln>
        </p:spPr>
      </p:sp>
      <p:sp>
        <p:nvSpPr>
          <p:cNvPr id="58" name="Shape 56"/>
          <p:cNvSpPr/>
          <p:nvPr/>
        </p:nvSpPr>
        <p:spPr>
          <a:xfrm flipV="1">
            <a:off x="2826410" y="3546043"/>
            <a:ext cx="303581" cy="300838"/>
          </a:xfrm>
          <a:prstGeom prst="line">
            <a:avLst/>
          </a:prstGeom>
          <a:noFill/>
          <a:ln w="13208">
            <a:solidFill>
              <a:srgbClr val="64748B"/>
            </a:solidFill>
            <a:prstDash val="solid"/>
            <a:tailEnd type="none"/>
          </a:ln>
        </p:spPr>
      </p:sp>
      <p:sp>
        <p:nvSpPr>
          <p:cNvPr id="59" name="Shape 57"/>
          <p:cNvSpPr/>
          <p:nvPr/>
        </p:nvSpPr>
        <p:spPr>
          <a:xfrm>
            <a:off x="6351422" y="3495751"/>
            <a:ext cx="1049731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60" name="Shape 58"/>
          <p:cNvSpPr/>
          <p:nvPr/>
        </p:nvSpPr>
        <p:spPr>
          <a:xfrm>
            <a:off x="6470294" y="3335731"/>
            <a:ext cx="695858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6470294" y="3335731"/>
            <a:ext cx="695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unifies</a:t>
            </a:r>
            <a:endParaRPr lang="en-US" sz="11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Google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T71 — 3-Track Data Modeling &amp; Medallion Map Spine</dc:title>
  <dc:subject>PptxGenJS Presentation</dc:subject>
  <dc:creator>Google Cloud Architecture Center • Agentic AI Studio</dc:creator>
  <cp:lastModifiedBy>Google Cloud Architecture Center • Agentic AI Studio</cp:lastModifiedBy>
  <cp:revision>1</cp:revision>
  <dcterms:created xsi:type="dcterms:W3CDTF">2026-10-22T05:20:02Z</dcterms:created>
  <dcterms:modified xsi:type="dcterms:W3CDTF">2026-10-22T05:20:02Z</dcterms:modified>
</cp:coreProperties>
</file>